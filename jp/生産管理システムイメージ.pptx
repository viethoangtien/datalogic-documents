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66" r:id="rId5"/>
    <p:sldId id="265" r:id="rId6"/>
    <p:sldId id="264" r:id="rId7"/>
    <p:sldId id="260" r:id="rId8"/>
    <p:sldId id="259" r:id="rId9"/>
    <p:sldId id="261" r:id="rId10"/>
    <p:sldId id="262" r:id="rId11"/>
    <p:sldId id="268" r:id="rId12"/>
    <p:sldId id="263" r:id="rId13"/>
    <p:sldId id="267" r:id="rId14"/>
    <p:sldId id="269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永井 PC2" initials="永井" lastIdx="1" clrIdx="0">
    <p:extLst>
      <p:ext uri="{19B8F6BF-5375-455C-9EA6-DF929625EA0E}">
        <p15:presenceInfo xmlns:p15="http://schemas.microsoft.com/office/powerpoint/2012/main" userId="S-1-5-21-4050304130-4039454914-2906760547-143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 dirty="0"/>
              <a:t>工場別山積表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>
        <c:manualLayout>
          <c:layoutTarget val="inner"/>
          <c:xMode val="edge"/>
          <c:yMode val="edge"/>
          <c:x val="5.3183562992125982E-2"/>
          <c:y val="0.11443939994836369"/>
          <c:w val="0.94681643700787399"/>
          <c:h val="0.722483407819672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A工場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１日</c:v>
                </c:pt>
                <c:pt idx="1">
                  <c:v>２日</c:v>
                </c:pt>
                <c:pt idx="2">
                  <c:v>３日</c:v>
                </c:pt>
                <c:pt idx="3">
                  <c:v>４日</c:v>
                </c:pt>
                <c:pt idx="4">
                  <c:v>５日</c:v>
                </c:pt>
                <c:pt idx="5">
                  <c:v>６日</c:v>
                </c:pt>
                <c:pt idx="6">
                  <c:v>７日</c:v>
                </c:pt>
                <c:pt idx="7">
                  <c:v>８日</c:v>
                </c:pt>
                <c:pt idx="8">
                  <c:v>９日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3.5</c:v>
                </c:pt>
                <c:pt idx="4">
                  <c:v>3.5</c:v>
                </c:pt>
                <c:pt idx="5">
                  <c:v>4.3</c:v>
                </c:pt>
                <c:pt idx="6">
                  <c:v>5</c:v>
                </c:pt>
                <c:pt idx="7">
                  <c:v>3</c:v>
                </c:pt>
                <c:pt idx="8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DB-4C98-BC1F-8B113F33C2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B工場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１日</c:v>
                </c:pt>
                <c:pt idx="1">
                  <c:v>２日</c:v>
                </c:pt>
                <c:pt idx="2">
                  <c:v>３日</c:v>
                </c:pt>
                <c:pt idx="3">
                  <c:v>４日</c:v>
                </c:pt>
                <c:pt idx="4">
                  <c:v>５日</c:v>
                </c:pt>
                <c:pt idx="5">
                  <c:v>６日</c:v>
                </c:pt>
                <c:pt idx="6">
                  <c:v>７日</c:v>
                </c:pt>
                <c:pt idx="7">
                  <c:v>８日</c:v>
                </c:pt>
                <c:pt idx="8">
                  <c:v>９日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1</c:v>
                </c:pt>
                <c:pt idx="4">
                  <c:v>0.5</c:v>
                </c:pt>
                <c:pt idx="5">
                  <c:v>3</c:v>
                </c:pt>
                <c:pt idx="6">
                  <c:v>2</c:v>
                </c:pt>
                <c:pt idx="7">
                  <c:v>3</c:v>
                </c:pt>
                <c:pt idx="8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4DB-4C98-BC1F-8B113F33C2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C工場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１日</c:v>
                </c:pt>
                <c:pt idx="1">
                  <c:v>２日</c:v>
                </c:pt>
                <c:pt idx="2">
                  <c:v>３日</c:v>
                </c:pt>
                <c:pt idx="3">
                  <c:v>４日</c:v>
                </c:pt>
                <c:pt idx="4">
                  <c:v>５日</c:v>
                </c:pt>
                <c:pt idx="5">
                  <c:v>６日</c:v>
                </c:pt>
                <c:pt idx="6">
                  <c:v>７日</c:v>
                </c:pt>
                <c:pt idx="7">
                  <c:v>８日</c:v>
                </c:pt>
                <c:pt idx="8">
                  <c:v>９日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4.8</c:v>
                </c:pt>
                <c:pt idx="6">
                  <c:v>3</c:v>
                </c:pt>
                <c:pt idx="7">
                  <c:v>3.2</c:v>
                </c:pt>
                <c:pt idx="8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4DB-4C98-BC1F-8B113F33C2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0065887"/>
        <c:axId val="956490863"/>
      </c:lineChart>
      <c:catAx>
        <c:axId val="490065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56490863"/>
        <c:crosses val="autoZero"/>
        <c:auto val="1"/>
        <c:lblAlgn val="ctr"/>
        <c:lblOffset val="100"/>
        <c:noMultiLvlLbl val="0"/>
      </c:catAx>
      <c:valAx>
        <c:axId val="956490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90065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dirty="0"/>
              <a:t>A</a:t>
            </a:r>
            <a:r>
              <a:rPr lang="ja-JP" altLang="en-US" dirty="0"/>
              <a:t>物件進捗割合</a:t>
            </a:r>
            <a:endParaRPr lang="en-US" altLang="ja-JP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A物件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767-4506-86F8-8E4C2AB17E8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767-4506-86F8-8E4C2AB17E89}"/>
              </c:ext>
            </c:extLst>
          </c:dPt>
          <c:cat>
            <c:strRef>
              <c:f>Sheet1!$A$2:$A$3</c:f>
              <c:strCache>
                <c:ptCount val="2"/>
                <c:pt idx="0">
                  <c:v>出荷</c:v>
                </c:pt>
                <c:pt idx="1">
                  <c:v>未出荷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AB-4C45-9BC3-8838D88D6F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D84E506-B913-487E-812B-B688E745CE3F}" type="datetimeFigureOut">
              <a:rPr kumimoji="1" lang="ja-JP" altLang="en-US" smtClean="0"/>
              <a:t>2020/4/10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7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2464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458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823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2020/4/10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719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2020/4/10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6395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2020/4/10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66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093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210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781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4E506-B913-487E-812B-B688E745CE3F}" type="datetimeFigureOut">
              <a:rPr kumimoji="1" lang="ja-JP" altLang="en-US" smtClean="0"/>
              <a:t>2020/4/10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030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D84E506-B913-487E-812B-B688E745CE3F}" type="datetimeFigureOut">
              <a:rPr kumimoji="1" lang="ja-JP" altLang="en-US" smtClean="0"/>
              <a:t>2020/4/10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1BC0497-C667-4C8D-A6DB-F6BB0EFE559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8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23D22D0-D713-4B5D-91F5-EEAC0793F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3224" y="1105351"/>
            <a:ext cx="6353967" cy="3023981"/>
          </a:xfrm>
        </p:spPr>
        <p:txBody>
          <a:bodyPr anchor="b">
            <a:normAutofit/>
          </a:bodyPr>
          <a:lstStyle/>
          <a:p>
            <a:pPr algn="l"/>
            <a:r>
              <a:rPr kumimoji="1" lang="ja-JP" altLang="en-US" sz="3600" dirty="0">
                <a:solidFill>
                  <a:srgbClr val="FFFFFF"/>
                </a:solidFill>
              </a:rPr>
              <a:t>生産管理システムイメージ</a:t>
            </a: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8FB34103-0C6B-46C3-95EC-8633A6057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3224" y="4297556"/>
            <a:ext cx="6353968" cy="1433391"/>
          </a:xfrm>
        </p:spPr>
        <p:txBody>
          <a:bodyPr anchor="t">
            <a:normAutofit/>
          </a:bodyPr>
          <a:lstStyle/>
          <a:p>
            <a:r>
              <a:rPr kumimoji="1" lang="ja-JP" altLang="en-US" dirty="0">
                <a:solidFill>
                  <a:srgbClr val="FFFFFF"/>
                </a:solidFill>
              </a:rPr>
              <a:t>４月１３日（月）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42932" y="4214336"/>
            <a:ext cx="51206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04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023EDC-7B75-4B8C-999C-2038E11D7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システムの流れ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C4B64E-EAC3-4CB2-80C0-0F6AB75C9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データ連動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工程計画書作成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実績データ入力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各種帳票出力</a:t>
            </a:r>
          </a:p>
        </p:txBody>
      </p:sp>
      <p:sp>
        <p:nvSpPr>
          <p:cNvPr id="4" name="矢印: 下 3">
            <a:extLst>
              <a:ext uri="{FF2B5EF4-FFF2-40B4-BE49-F238E27FC236}">
                <a16:creationId xmlns:a16="http://schemas.microsoft.com/office/drawing/2014/main" id="{FD844553-5EAB-4E53-884C-01DBBEC287B8}"/>
              </a:ext>
            </a:extLst>
          </p:cNvPr>
          <p:cNvSpPr/>
          <p:nvPr/>
        </p:nvSpPr>
        <p:spPr>
          <a:xfrm>
            <a:off x="1739151" y="2696405"/>
            <a:ext cx="322729" cy="4840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矢印: 下 4">
            <a:extLst>
              <a:ext uri="{FF2B5EF4-FFF2-40B4-BE49-F238E27FC236}">
                <a16:creationId xmlns:a16="http://schemas.microsoft.com/office/drawing/2014/main" id="{718B9F5B-720C-4C5B-A919-3A0E78B7E561}"/>
              </a:ext>
            </a:extLst>
          </p:cNvPr>
          <p:cNvSpPr/>
          <p:nvPr/>
        </p:nvSpPr>
        <p:spPr>
          <a:xfrm>
            <a:off x="1739151" y="3677502"/>
            <a:ext cx="322729" cy="4840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矢印: 下 5">
            <a:extLst>
              <a:ext uri="{FF2B5EF4-FFF2-40B4-BE49-F238E27FC236}">
                <a16:creationId xmlns:a16="http://schemas.microsoft.com/office/drawing/2014/main" id="{13C3DC61-179B-4CA9-9C27-3E6DD295C190}"/>
              </a:ext>
            </a:extLst>
          </p:cNvPr>
          <p:cNvSpPr/>
          <p:nvPr/>
        </p:nvSpPr>
        <p:spPr>
          <a:xfrm>
            <a:off x="1739151" y="4658599"/>
            <a:ext cx="322729" cy="4840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275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F37F5E-E6FD-43EE-B725-8686BCED7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94181"/>
            <a:ext cx="9720072" cy="1499616"/>
          </a:xfrm>
        </p:spPr>
        <p:txBody>
          <a:bodyPr/>
          <a:lstStyle/>
          <a:p>
            <a:r>
              <a:rPr kumimoji="1" lang="ja-JP" altLang="en-US" dirty="0"/>
              <a:t>データ連動</a:t>
            </a: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21C5CC68-9FBF-43DA-AA34-A3B26D2F57EA}"/>
              </a:ext>
            </a:extLst>
          </p:cNvPr>
          <p:cNvGrpSpPr/>
          <p:nvPr/>
        </p:nvGrpSpPr>
        <p:grpSpPr>
          <a:xfrm>
            <a:off x="1586508" y="2375018"/>
            <a:ext cx="2261493" cy="1037935"/>
            <a:chOff x="1990165" y="4258235"/>
            <a:chExt cx="2510117" cy="1255059"/>
          </a:xfrm>
        </p:grpSpPr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8ADD4E5E-EF68-4B5B-9743-6A17C4F547DE}"/>
                </a:ext>
              </a:extLst>
            </p:cNvPr>
            <p:cNvSpPr/>
            <p:nvPr/>
          </p:nvSpPr>
          <p:spPr>
            <a:xfrm>
              <a:off x="1990165" y="4258235"/>
              <a:ext cx="2510117" cy="125505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6519AFB7-BFAF-446E-ACD4-70CA0CAC9234}"/>
                </a:ext>
              </a:extLst>
            </p:cNvPr>
            <p:cNvSpPr txBox="1"/>
            <p:nvPr/>
          </p:nvSpPr>
          <p:spPr>
            <a:xfrm>
              <a:off x="2436158" y="4701098"/>
              <a:ext cx="16181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REAL4</a:t>
              </a:r>
              <a:r>
                <a:rPr kumimoji="1" lang="ja-JP" altLang="en-US" dirty="0"/>
                <a:t>データ</a:t>
              </a:r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D94DB2DD-BBD8-40BF-840F-0C4CEBAD2E06}"/>
              </a:ext>
            </a:extLst>
          </p:cNvPr>
          <p:cNvGrpSpPr/>
          <p:nvPr/>
        </p:nvGrpSpPr>
        <p:grpSpPr>
          <a:xfrm>
            <a:off x="1384780" y="4056984"/>
            <a:ext cx="2597287" cy="1037934"/>
            <a:chOff x="1990165" y="4258235"/>
            <a:chExt cx="2510117" cy="1255059"/>
          </a:xfrm>
        </p:grpSpPr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B76955B7-73F3-4C70-914C-8DC6B9F5D47C}"/>
                </a:ext>
              </a:extLst>
            </p:cNvPr>
            <p:cNvSpPr/>
            <p:nvPr/>
          </p:nvSpPr>
          <p:spPr>
            <a:xfrm>
              <a:off x="1990165" y="4258235"/>
              <a:ext cx="2510117" cy="125505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A5505001-E9CB-427F-957B-38BFE6F35356}"/>
                </a:ext>
              </a:extLst>
            </p:cNvPr>
            <p:cNvSpPr txBox="1"/>
            <p:nvPr/>
          </p:nvSpPr>
          <p:spPr>
            <a:xfrm>
              <a:off x="2213161" y="4701098"/>
              <a:ext cx="20641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生産管理システム</a:t>
              </a:r>
            </a:p>
          </p:txBody>
        </p:sp>
      </p:grp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073590AC-6507-4D22-84ED-22ACC2E803A7}"/>
              </a:ext>
            </a:extLst>
          </p:cNvPr>
          <p:cNvCxnSpPr>
            <a:cxnSpLocks/>
          </p:cNvCxnSpPr>
          <p:nvPr/>
        </p:nvCxnSpPr>
        <p:spPr>
          <a:xfrm>
            <a:off x="2644401" y="3441639"/>
            <a:ext cx="0" cy="61534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46B5C7E-EAD7-48E0-9C73-8A4266ED3FB3}"/>
              </a:ext>
            </a:extLst>
          </p:cNvPr>
          <p:cNvSpPr txBox="1"/>
          <p:nvPr/>
        </p:nvSpPr>
        <p:spPr>
          <a:xfrm>
            <a:off x="3848000" y="3046704"/>
            <a:ext cx="37872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・どの場所からでも送受信、閲覧</a:t>
            </a:r>
            <a:endParaRPr kumimoji="1" lang="en-US" altLang="ja-JP" dirty="0"/>
          </a:p>
          <a:p>
            <a:r>
              <a:rPr kumimoji="1" lang="ja-JP" altLang="en-US" dirty="0"/>
              <a:t>・リアルタイム性</a:t>
            </a:r>
            <a:endParaRPr kumimoji="1" lang="en-US" altLang="ja-JP" dirty="0"/>
          </a:p>
          <a:p>
            <a:r>
              <a:rPr kumimoji="1" lang="ja-JP" altLang="en-US" dirty="0"/>
              <a:t>・情報の可視化</a:t>
            </a: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0E86B518-AA05-4A5A-96D4-BF01516B3831}"/>
              </a:ext>
            </a:extLst>
          </p:cNvPr>
          <p:cNvGrpSpPr/>
          <p:nvPr/>
        </p:nvGrpSpPr>
        <p:grpSpPr>
          <a:xfrm>
            <a:off x="4729047" y="3948422"/>
            <a:ext cx="2361030" cy="1255058"/>
            <a:chOff x="4347883" y="2482056"/>
            <a:chExt cx="2361030" cy="1255058"/>
          </a:xfrm>
        </p:grpSpPr>
        <p:sp>
          <p:nvSpPr>
            <p:cNvPr id="14" name="雲 13">
              <a:extLst>
                <a:ext uri="{FF2B5EF4-FFF2-40B4-BE49-F238E27FC236}">
                  <a16:creationId xmlns:a16="http://schemas.microsoft.com/office/drawing/2014/main" id="{9996519A-3025-4EDC-9F27-A94796EB355A}"/>
                </a:ext>
              </a:extLst>
            </p:cNvPr>
            <p:cNvSpPr/>
            <p:nvPr/>
          </p:nvSpPr>
          <p:spPr>
            <a:xfrm>
              <a:off x="4347883" y="2482056"/>
              <a:ext cx="2361030" cy="1255058"/>
            </a:xfrm>
            <a:prstGeom prst="clou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95E5587B-1071-4BA5-8968-EDBFB879914C}"/>
                </a:ext>
              </a:extLst>
            </p:cNvPr>
            <p:cNvSpPr txBox="1"/>
            <p:nvPr/>
          </p:nvSpPr>
          <p:spPr>
            <a:xfrm>
              <a:off x="4933122" y="2924919"/>
              <a:ext cx="11628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クラウド</a:t>
              </a:r>
            </a:p>
          </p:txBody>
        </p:sp>
      </p:grp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24628C73-DF37-428F-A3AF-6745E997652A}"/>
              </a:ext>
            </a:extLst>
          </p:cNvPr>
          <p:cNvGrpSpPr/>
          <p:nvPr/>
        </p:nvGrpSpPr>
        <p:grpSpPr>
          <a:xfrm>
            <a:off x="7922307" y="3318321"/>
            <a:ext cx="2151528" cy="979359"/>
            <a:chOff x="7922307" y="3318321"/>
            <a:chExt cx="2151528" cy="979359"/>
          </a:xfrm>
        </p:grpSpPr>
        <p:sp>
          <p:nvSpPr>
            <p:cNvPr id="29" name="楕円 28">
              <a:extLst>
                <a:ext uri="{FF2B5EF4-FFF2-40B4-BE49-F238E27FC236}">
                  <a16:creationId xmlns:a16="http://schemas.microsoft.com/office/drawing/2014/main" id="{1A6261AC-C8F4-49FA-A540-F691541F04B9}"/>
                </a:ext>
              </a:extLst>
            </p:cNvPr>
            <p:cNvSpPr/>
            <p:nvPr/>
          </p:nvSpPr>
          <p:spPr>
            <a:xfrm>
              <a:off x="7922307" y="3318321"/>
              <a:ext cx="2151528" cy="97935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9147761B-09A9-4A8B-8876-547066779D58}"/>
                </a:ext>
              </a:extLst>
            </p:cNvPr>
            <p:cNvSpPr txBox="1"/>
            <p:nvPr/>
          </p:nvSpPr>
          <p:spPr>
            <a:xfrm>
              <a:off x="8339334" y="3623334"/>
              <a:ext cx="13363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タブレット</a:t>
              </a:r>
            </a:p>
          </p:txBody>
        </p:sp>
      </p:grpSp>
      <p:sp>
        <p:nvSpPr>
          <p:cNvPr id="34" name="矢印: 上下 33">
            <a:extLst>
              <a:ext uri="{FF2B5EF4-FFF2-40B4-BE49-F238E27FC236}">
                <a16:creationId xmlns:a16="http://schemas.microsoft.com/office/drawing/2014/main" id="{B64473E8-9467-459C-88AC-B86B1ECBFD16}"/>
              </a:ext>
            </a:extLst>
          </p:cNvPr>
          <p:cNvSpPr/>
          <p:nvPr/>
        </p:nvSpPr>
        <p:spPr>
          <a:xfrm rot="3521895">
            <a:off x="7422169" y="3765962"/>
            <a:ext cx="167476" cy="872834"/>
          </a:xfrm>
          <a:prstGeom prst="upDownArrow">
            <a:avLst>
              <a:gd name="adj1" fmla="val 6119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矢印: 上下 35">
            <a:extLst>
              <a:ext uri="{FF2B5EF4-FFF2-40B4-BE49-F238E27FC236}">
                <a16:creationId xmlns:a16="http://schemas.microsoft.com/office/drawing/2014/main" id="{6183A9E3-1C25-4DD5-8F82-FE8ED1329D6A}"/>
              </a:ext>
            </a:extLst>
          </p:cNvPr>
          <p:cNvSpPr/>
          <p:nvPr/>
        </p:nvSpPr>
        <p:spPr>
          <a:xfrm rot="7072779">
            <a:off x="7399251" y="4560078"/>
            <a:ext cx="208683" cy="98508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矢印: 上下 36">
            <a:extLst>
              <a:ext uri="{FF2B5EF4-FFF2-40B4-BE49-F238E27FC236}">
                <a16:creationId xmlns:a16="http://schemas.microsoft.com/office/drawing/2014/main" id="{49282A27-54AA-4648-A76F-90BB7A17A4FD}"/>
              </a:ext>
            </a:extLst>
          </p:cNvPr>
          <p:cNvSpPr/>
          <p:nvPr/>
        </p:nvSpPr>
        <p:spPr>
          <a:xfrm rot="5400000">
            <a:off x="4224102" y="4257571"/>
            <a:ext cx="246296" cy="69590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1" name="コンテンツ プレースホルダー 30">
            <a:extLst>
              <a:ext uri="{FF2B5EF4-FFF2-40B4-BE49-F238E27FC236}">
                <a16:creationId xmlns:a16="http://schemas.microsoft.com/office/drawing/2014/main" id="{35B1163E-45ED-4C44-997C-698FD9466C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87756" y="4875253"/>
            <a:ext cx="2170364" cy="999831"/>
          </a:xfrm>
          <a:prstGeom prst="rect">
            <a:avLst/>
          </a:prstGeom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554EF7A-4900-499A-8402-5E670F6E93E0}"/>
              </a:ext>
            </a:extLst>
          </p:cNvPr>
          <p:cNvSpPr txBox="1"/>
          <p:nvPr/>
        </p:nvSpPr>
        <p:spPr>
          <a:xfrm>
            <a:off x="8201957" y="5203480"/>
            <a:ext cx="1808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スマートフォン</a:t>
            </a:r>
          </a:p>
        </p:txBody>
      </p:sp>
    </p:spTree>
    <p:extLst>
      <p:ext uri="{BB962C8B-B14F-4D97-AF65-F5344CB8AC3E}">
        <p14:creationId xmlns:p14="http://schemas.microsoft.com/office/powerpoint/2010/main" val="375854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4" grpId="0" animBg="1"/>
      <p:bldP spid="36" grpId="0" animBg="1"/>
      <p:bldP spid="37" grpId="0" animBg="1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89A75-2057-4650-A552-3BDDA72AA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データ連動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BA92EF-F29F-4920-A9BF-03BBE45C2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28800"/>
            <a:ext cx="9720073" cy="4023360"/>
          </a:xfrm>
        </p:spPr>
        <p:txBody>
          <a:bodyPr/>
          <a:lstStyle/>
          <a:p>
            <a:r>
              <a:rPr kumimoji="1" lang="ja-JP" altLang="en-US" dirty="0"/>
              <a:t>工事管理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CE8CE7B-0DC1-40A2-B61A-AFDF891122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27"/>
          <a:stretch/>
        </p:blipFill>
        <p:spPr>
          <a:xfrm>
            <a:off x="1287483" y="2326038"/>
            <a:ext cx="5242259" cy="346991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C7ED94A-51EB-432F-BC7F-474DD41F6E8B}"/>
              </a:ext>
            </a:extLst>
          </p:cNvPr>
          <p:cNvSpPr txBox="1"/>
          <p:nvPr/>
        </p:nvSpPr>
        <p:spPr>
          <a:xfrm>
            <a:off x="6793097" y="3429000"/>
            <a:ext cx="4374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・原価管理システムのイメージ</a:t>
            </a:r>
            <a:endParaRPr kumimoji="1" lang="en-US" altLang="ja-JP" dirty="0"/>
          </a:p>
          <a:p>
            <a:r>
              <a:rPr kumimoji="1" lang="ja-JP" altLang="en-US" dirty="0"/>
              <a:t>→同じ工事は</a:t>
            </a:r>
            <a:r>
              <a:rPr kumimoji="1" lang="en-US" altLang="ja-JP" dirty="0"/>
              <a:t>1</a:t>
            </a:r>
            <a:r>
              <a:rPr kumimoji="1" lang="ja-JP" altLang="en-US" dirty="0"/>
              <a:t>種類のみ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REAL4</a:t>
            </a:r>
            <a:r>
              <a:rPr kumimoji="1" lang="ja-JP" altLang="en-US" dirty="0"/>
              <a:t>データ外の工事登録</a:t>
            </a:r>
          </a:p>
        </p:txBody>
      </p:sp>
    </p:spTree>
    <p:extLst>
      <p:ext uri="{BB962C8B-B14F-4D97-AF65-F5344CB8AC3E}">
        <p14:creationId xmlns:p14="http://schemas.microsoft.com/office/powerpoint/2010/main" val="648480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9E822B-E82C-4CFA-8E09-44A1146AA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工程計画書作成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025643-CD55-4A83-B118-1C23A4EB5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各セクションの一人工当たりの</a:t>
            </a:r>
            <a:r>
              <a:rPr kumimoji="1" lang="ja-JP" altLang="en-US" dirty="0"/>
              <a:t>生産能力をマスターにて設定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325696BC-B5AD-4A46-8865-56BA359C6DF9}"/>
              </a:ext>
            </a:extLst>
          </p:cNvPr>
          <p:cNvSpPr/>
          <p:nvPr/>
        </p:nvSpPr>
        <p:spPr>
          <a:xfrm>
            <a:off x="1024128" y="2922494"/>
            <a:ext cx="1611496" cy="7288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一次加工</a:t>
            </a: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0A2607D6-AD8C-434E-A5EF-E05A987E6606}"/>
              </a:ext>
            </a:extLst>
          </p:cNvPr>
          <p:cNvSpPr/>
          <p:nvPr/>
        </p:nvSpPr>
        <p:spPr>
          <a:xfrm>
            <a:off x="3222810" y="2964631"/>
            <a:ext cx="1694331" cy="6866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コア組立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738F80C4-4570-455E-8289-15AB6AEB7821}"/>
              </a:ext>
            </a:extLst>
          </p:cNvPr>
          <p:cNvSpPr/>
          <p:nvPr/>
        </p:nvSpPr>
        <p:spPr>
          <a:xfrm>
            <a:off x="5277968" y="2964631"/>
            <a:ext cx="1694331" cy="6866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仕口組立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2FAD51DA-9AFD-4D6F-A144-40C5E55FD0EA}"/>
              </a:ext>
            </a:extLst>
          </p:cNvPr>
          <p:cNvSpPr/>
          <p:nvPr/>
        </p:nvSpPr>
        <p:spPr>
          <a:xfrm>
            <a:off x="7478803" y="2964631"/>
            <a:ext cx="1548654" cy="6866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大組</a:t>
            </a:r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323B93CC-10E7-4EB7-B680-9CB624216978}"/>
              </a:ext>
            </a:extLst>
          </p:cNvPr>
          <p:cNvSpPr/>
          <p:nvPr/>
        </p:nvSpPr>
        <p:spPr>
          <a:xfrm>
            <a:off x="1690923" y="3852488"/>
            <a:ext cx="277906" cy="9502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BD99CC71-C69A-49D5-9FA2-AEAE0228735B}"/>
              </a:ext>
            </a:extLst>
          </p:cNvPr>
          <p:cNvSpPr/>
          <p:nvPr/>
        </p:nvSpPr>
        <p:spPr>
          <a:xfrm>
            <a:off x="3931022" y="3822551"/>
            <a:ext cx="277906" cy="9502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DAB79C16-502D-4DFC-AFBD-35403E93A218}"/>
              </a:ext>
            </a:extLst>
          </p:cNvPr>
          <p:cNvSpPr/>
          <p:nvPr/>
        </p:nvSpPr>
        <p:spPr>
          <a:xfrm>
            <a:off x="5957047" y="3822551"/>
            <a:ext cx="277906" cy="9502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9704BF01-5C6B-4FBE-964C-045F4060A670}"/>
              </a:ext>
            </a:extLst>
          </p:cNvPr>
          <p:cNvSpPr/>
          <p:nvPr/>
        </p:nvSpPr>
        <p:spPr>
          <a:xfrm>
            <a:off x="8114177" y="3852488"/>
            <a:ext cx="277906" cy="9502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767878F-8BDC-4D58-8C7A-DADC8F2170E9}"/>
              </a:ext>
            </a:extLst>
          </p:cNvPr>
          <p:cNvSpPr txBox="1"/>
          <p:nvPr/>
        </p:nvSpPr>
        <p:spPr>
          <a:xfrm>
            <a:off x="1089211" y="4955888"/>
            <a:ext cx="1994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10</a:t>
            </a:r>
            <a:r>
              <a:rPr kumimoji="1" lang="ja-JP" altLang="en-US" dirty="0"/>
              <a:t>本</a:t>
            </a:r>
            <a:r>
              <a:rPr kumimoji="1" lang="en-US" altLang="ja-JP" dirty="0"/>
              <a:t>/</a:t>
            </a:r>
            <a:r>
              <a:rPr kumimoji="1" lang="ja-JP" altLang="en-US" dirty="0"/>
              <a:t>１日</a:t>
            </a:r>
            <a:endParaRPr kumimoji="1" lang="en-US" altLang="ja-JP" dirty="0"/>
          </a:p>
          <a:p>
            <a:r>
              <a:rPr kumimoji="1" lang="ja-JP" altLang="en-US" dirty="0"/>
              <a:t>孔数、切断数、開先など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3D80A50-5D47-4A03-9C57-ABD4CF792657}"/>
              </a:ext>
            </a:extLst>
          </p:cNvPr>
          <p:cNvSpPr txBox="1"/>
          <p:nvPr/>
        </p:nvSpPr>
        <p:spPr>
          <a:xfrm>
            <a:off x="3436847" y="4986293"/>
            <a:ext cx="1994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4</a:t>
            </a:r>
            <a:r>
              <a:rPr kumimoji="1" lang="ja-JP" altLang="en-US" dirty="0"/>
              <a:t>台／１日</a:t>
            </a:r>
            <a:endParaRPr kumimoji="1" lang="en-US" altLang="ja-JP" dirty="0"/>
          </a:p>
          <a:p>
            <a:r>
              <a:rPr kumimoji="1" lang="ja-JP" altLang="en-US" dirty="0"/>
              <a:t>溶接長（手動、自動）、ピース数、重量など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0333619-B95D-4920-BB98-576FF78B887B}"/>
              </a:ext>
            </a:extLst>
          </p:cNvPr>
          <p:cNvSpPr txBox="1"/>
          <p:nvPr/>
        </p:nvSpPr>
        <p:spPr>
          <a:xfrm>
            <a:off x="5431495" y="5009981"/>
            <a:ext cx="1994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4</a:t>
            </a:r>
            <a:r>
              <a:rPr kumimoji="1" lang="ja-JP" altLang="en-US" dirty="0"/>
              <a:t>台／１日</a:t>
            </a:r>
            <a:endParaRPr kumimoji="1" lang="en-US" altLang="ja-JP" dirty="0"/>
          </a:p>
          <a:p>
            <a:r>
              <a:rPr kumimoji="1" lang="ja-JP" altLang="en-US" dirty="0"/>
              <a:t>溶接長（手動、自動）、ピース数、重量など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34DA0A1-720B-475F-9B55-70069EB4945C}"/>
              </a:ext>
            </a:extLst>
          </p:cNvPr>
          <p:cNvSpPr txBox="1"/>
          <p:nvPr/>
        </p:nvSpPr>
        <p:spPr>
          <a:xfrm>
            <a:off x="7569576" y="4986293"/>
            <a:ext cx="1994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台／１日</a:t>
            </a:r>
            <a:endParaRPr kumimoji="1" lang="en-US" altLang="ja-JP" dirty="0"/>
          </a:p>
          <a:p>
            <a:r>
              <a:rPr kumimoji="1" lang="ja-JP" altLang="en-US" dirty="0"/>
              <a:t>溶接長（手動、自動）、ピース数、重量など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84BB385-C1B2-4B3A-AE3A-FA28DE8B1907}"/>
              </a:ext>
            </a:extLst>
          </p:cNvPr>
          <p:cNvSpPr txBox="1"/>
          <p:nvPr/>
        </p:nvSpPr>
        <p:spPr>
          <a:xfrm>
            <a:off x="9170895" y="2967070"/>
            <a:ext cx="25364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・加工本数の割り出す為下に書いてあるよにうな情報を元に計算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・工場の割り当て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・作業者の割り当て</a:t>
            </a:r>
          </a:p>
        </p:txBody>
      </p:sp>
    </p:spTree>
    <p:extLst>
      <p:ext uri="{BB962C8B-B14F-4D97-AF65-F5344CB8AC3E}">
        <p14:creationId xmlns:p14="http://schemas.microsoft.com/office/powerpoint/2010/main" val="313387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7" grpId="0"/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91CC3E-2A8F-44B1-9E8D-471250F63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工程計画書作成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BA286D-1C73-4E42-93D2-EC74F0192124}"/>
              </a:ext>
            </a:extLst>
          </p:cNvPr>
          <p:cNvSpPr txBox="1"/>
          <p:nvPr/>
        </p:nvSpPr>
        <p:spPr>
          <a:xfrm>
            <a:off x="7891272" y="2238372"/>
            <a:ext cx="40568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・様々な仕分け区分の設定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・仕分けから出荷日の設定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　→</a:t>
            </a:r>
            <a:r>
              <a:rPr kumimoji="1" lang="ja-JP" altLang="en-US" dirty="0">
                <a:solidFill>
                  <a:prstClr val="black"/>
                </a:solidFill>
              </a:rPr>
              <a:t>・</a:t>
            </a:r>
            <a:r>
              <a:rPr kumimoji="1" lang="en-US" altLang="ja-JP" dirty="0">
                <a:solidFill>
                  <a:prstClr val="black"/>
                </a:solidFill>
              </a:rPr>
              <a:t>NC</a:t>
            </a:r>
            <a:r>
              <a:rPr kumimoji="1" lang="ja-JP" altLang="en-US" dirty="0">
                <a:solidFill>
                  <a:prstClr val="black"/>
                </a:solidFill>
              </a:rPr>
              <a:t>システムの仕分け機能のイメージ</a:t>
            </a:r>
            <a:endParaRPr kumimoji="1" lang="en-US" altLang="ja-JP" dirty="0">
              <a:solidFill>
                <a:prstClr val="black"/>
              </a:solidFill>
            </a:endParaRPr>
          </a:p>
          <a:p>
            <a:pPr lvl="0"/>
            <a:r>
              <a:rPr kumimoji="1" lang="ja-JP" altLang="en-US" dirty="0">
                <a:solidFill>
                  <a:prstClr val="black"/>
                </a:solidFill>
              </a:rPr>
              <a:t>・仕分けから製作工程の設定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REAL4</a:t>
            </a:r>
            <a:r>
              <a:rPr kumimoji="1" lang="ja-JP" altLang="en-US" dirty="0"/>
              <a:t>外製品などの手入力</a:t>
            </a:r>
            <a:endParaRPr kumimoji="1" lang="en-US" altLang="ja-JP" dirty="0"/>
          </a:p>
          <a:p>
            <a:endParaRPr kumimoji="1" lang="en-US" altLang="ja-JP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32CE5DF0-07E8-4B4E-9C58-06999628F4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2238372"/>
            <a:ext cx="6738747" cy="375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72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618AE4-ECAC-4817-87E9-D8D00CBA6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工程計画書作成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EE7AE3-E908-4012-BA3D-4C65EA99A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kumimoji="1" lang="ja-JP" altLang="en-US" dirty="0"/>
          </a:p>
        </p:txBody>
      </p:sp>
      <p:graphicFrame>
        <p:nvGraphicFramePr>
          <p:cNvPr id="7" name="表 7">
            <a:extLst>
              <a:ext uri="{FF2B5EF4-FFF2-40B4-BE49-F238E27FC236}">
                <a16:creationId xmlns:a16="http://schemas.microsoft.com/office/drawing/2014/main" id="{A671F254-A9C6-4308-B269-65147AD22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488587"/>
              </p:ext>
            </p:extLst>
          </p:nvPr>
        </p:nvGraphicFramePr>
        <p:xfrm>
          <a:off x="838200" y="2550383"/>
          <a:ext cx="105156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43109088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37356829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16482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89833058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64588078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84304461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50132301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3697166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52748196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73035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r>
                        <a:rPr kumimoji="1" lang="ja-JP" altLang="en-US" dirty="0"/>
                        <a:t>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8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105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柱</a:t>
                      </a:r>
                      <a:endParaRPr kumimoji="1" lang="en-US" altLang="ja-JP" dirty="0"/>
                    </a:p>
                    <a:p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次加工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09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コア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570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仕口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564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大組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86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検査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10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塗装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063373"/>
                  </a:ext>
                </a:extLst>
              </a:tr>
            </a:tbl>
          </a:graphicData>
        </a:graphic>
      </p:graphicFrame>
      <p:sp>
        <p:nvSpPr>
          <p:cNvPr id="9" name="フローチャート: 処理 8">
            <a:extLst>
              <a:ext uri="{FF2B5EF4-FFF2-40B4-BE49-F238E27FC236}">
                <a16:creationId xmlns:a16="http://schemas.microsoft.com/office/drawing/2014/main" id="{EEB8D63E-38EA-488A-986F-E4837ACAD6FA}"/>
              </a:ext>
            </a:extLst>
          </p:cNvPr>
          <p:cNvSpPr/>
          <p:nvPr/>
        </p:nvSpPr>
        <p:spPr>
          <a:xfrm>
            <a:off x="1984150" y="3147129"/>
            <a:ext cx="921610" cy="20828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ローチャート: 処理 9">
            <a:extLst>
              <a:ext uri="{FF2B5EF4-FFF2-40B4-BE49-F238E27FC236}">
                <a16:creationId xmlns:a16="http://schemas.microsoft.com/office/drawing/2014/main" id="{4F759539-E5B4-4B1B-8252-66F51C28D9D7}"/>
              </a:ext>
            </a:extLst>
          </p:cNvPr>
          <p:cNvSpPr/>
          <p:nvPr/>
        </p:nvSpPr>
        <p:spPr>
          <a:xfrm>
            <a:off x="3032445" y="3647084"/>
            <a:ext cx="1927411" cy="206188"/>
          </a:xfrm>
          <a:prstGeom prst="flowChart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フローチャート: 処理 10">
            <a:extLst>
              <a:ext uri="{FF2B5EF4-FFF2-40B4-BE49-F238E27FC236}">
                <a16:creationId xmlns:a16="http://schemas.microsoft.com/office/drawing/2014/main" id="{1E5FCFDF-1E40-4DED-AE6C-06F516EB3E7C}"/>
              </a:ext>
            </a:extLst>
          </p:cNvPr>
          <p:cNvSpPr/>
          <p:nvPr/>
        </p:nvSpPr>
        <p:spPr>
          <a:xfrm>
            <a:off x="5168152" y="4015809"/>
            <a:ext cx="1892405" cy="204872"/>
          </a:xfrm>
          <a:prstGeom prst="flowChartProcess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フローチャート: 処理 11">
            <a:extLst>
              <a:ext uri="{FF2B5EF4-FFF2-40B4-BE49-F238E27FC236}">
                <a16:creationId xmlns:a16="http://schemas.microsoft.com/office/drawing/2014/main" id="{B0DC6D11-AA59-45D6-95B7-4D716E2F8B3B}"/>
              </a:ext>
            </a:extLst>
          </p:cNvPr>
          <p:cNvSpPr/>
          <p:nvPr/>
        </p:nvSpPr>
        <p:spPr>
          <a:xfrm>
            <a:off x="7199453" y="4357409"/>
            <a:ext cx="903845" cy="210512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フローチャート: 処理 12">
            <a:extLst>
              <a:ext uri="{FF2B5EF4-FFF2-40B4-BE49-F238E27FC236}">
                <a16:creationId xmlns:a16="http://schemas.microsoft.com/office/drawing/2014/main" id="{230796CF-68FB-4280-BEDB-F21ABA8F9DC3}"/>
              </a:ext>
            </a:extLst>
          </p:cNvPr>
          <p:cNvSpPr/>
          <p:nvPr/>
        </p:nvSpPr>
        <p:spPr>
          <a:xfrm>
            <a:off x="8283714" y="4756167"/>
            <a:ext cx="851648" cy="201966"/>
          </a:xfrm>
          <a:prstGeom prst="flowChartProcess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フローチャート: 処理 13">
            <a:extLst>
              <a:ext uri="{FF2B5EF4-FFF2-40B4-BE49-F238E27FC236}">
                <a16:creationId xmlns:a16="http://schemas.microsoft.com/office/drawing/2014/main" id="{3B3F0CFC-1725-4386-BA3E-9D1EC25614C8}"/>
              </a:ext>
            </a:extLst>
          </p:cNvPr>
          <p:cNvSpPr/>
          <p:nvPr/>
        </p:nvSpPr>
        <p:spPr>
          <a:xfrm>
            <a:off x="9306250" y="5142770"/>
            <a:ext cx="869577" cy="175072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5495649-C991-4626-A419-906D98BC2E1C}"/>
              </a:ext>
            </a:extLst>
          </p:cNvPr>
          <p:cNvSpPr txBox="1"/>
          <p:nvPr/>
        </p:nvSpPr>
        <p:spPr>
          <a:xfrm>
            <a:off x="766953" y="1979883"/>
            <a:ext cx="5329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バーの幅を自動で算出し自由に編集可能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8B9E4DE-814A-4D1D-9FFA-C9C72096B604}"/>
              </a:ext>
            </a:extLst>
          </p:cNvPr>
          <p:cNvSpPr txBox="1"/>
          <p:nvPr/>
        </p:nvSpPr>
        <p:spPr>
          <a:xfrm>
            <a:off x="10475811" y="5074835"/>
            <a:ext cx="739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出荷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2907C54-A257-48C9-B288-B57B6902E9F5}"/>
              </a:ext>
            </a:extLst>
          </p:cNvPr>
          <p:cNvSpPr/>
          <p:nvPr/>
        </p:nvSpPr>
        <p:spPr>
          <a:xfrm>
            <a:off x="2905760" y="3147129"/>
            <a:ext cx="1076960" cy="20618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0DC647B-A0DA-4426-8641-24FCA144535D}"/>
              </a:ext>
            </a:extLst>
          </p:cNvPr>
          <p:cNvSpPr txBox="1"/>
          <p:nvPr/>
        </p:nvSpPr>
        <p:spPr>
          <a:xfrm>
            <a:off x="684634" y="5469962"/>
            <a:ext cx="10399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各セクションにて製品の内訳を表示（製品、仕口、コア、鋼材、部品、型紙）←符号管理レベル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2694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4" grpId="0"/>
      <p:bldP spid="5" grpId="0"/>
      <p:bldP spid="6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D5D2D3-1E6F-4FE5-AEF5-7F6D92CA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工程計画書作成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3331D9-9DE6-470F-B09F-20189239F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9293"/>
          </a:xfrm>
        </p:spPr>
        <p:txBody>
          <a:bodyPr/>
          <a:lstStyle/>
          <a:p>
            <a:r>
              <a:rPr kumimoji="1" lang="en-US" altLang="ja-JP" dirty="0"/>
              <a:t>REAL4</a:t>
            </a:r>
            <a:r>
              <a:rPr lang="ja-JP" altLang="en-US" dirty="0"/>
              <a:t>データ、仕分け</a:t>
            </a:r>
            <a:r>
              <a:rPr kumimoji="1" lang="ja-JP" altLang="en-US" dirty="0"/>
              <a:t>を元に出荷日を設定</a:t>
            </a:r>
          </a:p>
        </p:txBody>
      </p:sp>
      <p:graphicFrame>
        <p:nvGraphicFramePr>
          <p:cNvPr id="7" name="表 7">
            <a:extLst>
              <a:ext uri="{FF2B5EF4-FFF2-40B4-BE49-F238E27FC236}">
                <a16:creationId xmlns:a16="http://schemas.microsoft.com/office/drawing/2014/main" id="{51393B91-59F2-414E-96F4-610634F22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019368"/>
              </p:ext>
            </p:extLst>
          </p:nvPr>
        </p:nvGraphicFramePr>
        <p:xfrm>
          <a:off x="1583765" y="2316480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06445176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6290934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9686036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863866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852196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4403058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7916682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556244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000081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02543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8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14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r>
                        <a:rPr kumimoji="1" lang="ja-JP" altLang="en-US" dirty="0"/>
                        <a:t>物件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731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r>
                        <a:rPr kumimoji="1" lang="ja-JP" altLang="en-US" dirty="0"/>
                        <a:t>物件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264077"/>
                  </a:ext>
                </a:extLst>
              </a:tr>
            </a:tbl>
          </a:graphicData>
        </a:graphic>
      </p:graphicFrame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69AB663-3214-4D06-AAC2-9C3F4B45DE56}"/>
              </a:ext>
            </a:extLst>
          </p:cNvPr>
          <p:cNvSpPr/>
          <p:nvPr/>
        </p:nvSpPr>
        <p:spPr>
          <a:xfrm>
            <a:off x="4128246" y="2796540"/>
            <a:ext cx="1434353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4B2EBAF-5C5A-4AE6-A740-2BBA3DD443C6}"/>
              </a:ext>
            </a:extLst>
          </p:cNvPr>
          <p:cNvSpPr/>
          <p:nvPr/>
        </p:nvSpPr>
        <p:spPr>
          <a:xfrm>
            <a:off x="5679695" y="3165432"/>
            <a:ext cx="3146612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3" name="表 13">
            <a:extLst>
              <a:ext uri="{FF2B5EF4-FFF2-40B4-BE49-F238E27FC236}">
                <a16:creationId xmlns:a16="http://schemas.microsoft.com/office/drawing/2014/main" id="{A452C2C7-4751-4130-803F-C0B4BCEAB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032106"/>
              </p:ext>
            </p:extLst>
          </p:nvPr>
        </p:nvGraphicFramePr>
        <p:xfrm>
          <a:off x="1583765" y="342722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0119076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7122152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950041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4093024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37553931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73378955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3637509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639137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3412932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01674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kumimoji="1" lang="ja-JP" altLang="en-US" dirty="0">
                          <a:solidFill>
                            <a:srgbClr val="FF0000"/>
                          </a:solidFill>
                        </a:rPr>
                        <a:t>物件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5123"/>
                  </a:ext>
                </a:extLst>
              </a:tr>
            </a:tbl>
          </a:graphicData>
        </a:graphic>
      </p:graphicFrame>
      <p:graphicFrame>
        <p:nvGraphicFramePr>
          <p:cNvPr id="15" name="表 7">
            <a:extLst>
              <a:ext uri="{FF2B5EF4-FFF2-40B4-BE49-F238E27FC236}">
                <a16:creationId xmlns:a16="http://schemas.microsoft.com/office/drawing/2014/main" id="{8BF2912F-7744-4957-9101-EA3489980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058884"/>
              </p:ext>
            </p:extLst>
          </p:nvPr>
        </p:nvGraphicFramePr>
        <p:xfrm>
          <a:off x="1583765" y="4352550"/>
          <a:ext cx="8128000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06445176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6290934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9686036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863866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852196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4403058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7916682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556244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000081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02543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8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14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r>
                        <a:rPr kumimoji="1" lang="ja-JP" altLang="en-US" dirty="0"/>
                        <a:t>物件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73135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r>
                        <a:rPr kumimoji="1" lang="ja-JP" altLang="en-US" dirty="0"/>
                        <a:t>物件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26407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kumimoji="1" lang="en-US" altLang="ja-JP" b="1" dirty="0">
                          <a:solidFill>
                            <a:srgbClr val="FF0000"/>
                          </a:solidFill>
                        </a:rPr>
                        <a:t>C</a:t>
                      </a:r>
                      <a:r>
                        <a:rPr kumimoji="1" lang="ja-JP" altLang="en-US" b="1" dirty="0">
                          <a:solidFill>
                            <a:srgbClr val="FF0000"/>
                          </a:solidFill>
                        </a:rPr>
                        <a:t>物件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356801"/>
                  </a:ext>
                </a:extLst>
              </a:tr>
            </a:tbl>
          </a:graphicData>
        </a:graphic>
      </p:graphicFrame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BCA467B-4C88-4FEB-88B3-D7415F78AFC3}"/>
              </a:ext>
            </a:extLst>
          </p:cNvPr>
          <p:cNvSpPr txBox="1"/>
          <p:nvPr/>
        </p:nvSpPr>
        <p:spPr>
          <a:xfrm>
            <a:off x="5647765" y="2704154"/>
            <a:ext cx="73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出荷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CB910E7-C25C-49D4-8E99-A255C05D75CD}"/>
              </a:ext>
            </a:extLst>
          </p:cNvPr>
          <p:cNvSpPr txBox="1"/>
          <p:nvPr/>
        </p:nvSpPr>
        <p:spPr>
          <a:xfrm>
            <a:off x="8961410" y="3073486"/>
            <a:ext cx="73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出荷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A98463E3-0CCD-49E6-95A2-7C3AB85030DC}"/>
              </a:ext>
            </a:extLst>
          </p:cNvPr>
          <p:cNvGrpSpPr/>
          <p:nvPr/>
        </p:nvGrpSpPr>
        <p:grpSpPr>
          <a:xfrm>
            <a:off x="5647765" y="3442818"/>
            <a:ext cx="1573306" cy="788523"/>
            <a:chOff x="5647765" y="3442818"/>
            <a:chExt cx="1573306" cy="788523"/>
          </a:xfrm>
        </p:grpSpPr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36D7C251-58B2-4974-931C-F44CD5B5D46E}"/>
                </a:ext>
              </a:extLst>
            </p:cNvPr>
            <p:cNvCxnSpPr/>
            <p:nvPr/>
          </p:nvCxnSpPr>
          <p:spPr>
            <a:xfrm>
              <a:off x="5647765" y="3899647"/>
              <a:ext cx="0" cy="33169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7154C5CC-CFB6-4BFE-BA88-E544CB3F2592}"/>
                </a:ext>
              </a:extLst>
            </p:cNvPr>
            <p:cNvSpPr txBox="1"/>
            <p:nvPr/>
          </p:nvSpPr>
          <p:spPr>
            <a:xfrm>
              <a:off x="6484856" y="3442818"/>
              <a:ext cx="736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>
                  <a:solidFill>
                    <a:srgbClr val="FF0000"/>
                  </a:solidFill>
                </a:rPr>
                <a:t>出荷</a:t>
              </a:r>
            </a:p>
          </p:txBody>
        </p: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6F39A966-6101-448E-84ED-D1C6CCBD9EB0}"/>
              </a:ext>
            </a:extLst>
          </p:cNvPr>
          <p:cNvGrpSpPr/>
          <p:nvPr/>
        </p:nvGrpSpPr>
        <p:grpSpPr>
          <a:xfrm>
            <a:off x="2480235" y="4737100"/>
            <a:ext cx="7200046" cy="1144256"/>
            <a:chOff x="2480235" y="4737100"/>
            <a:chExt cx="7200046" cy="1144256"/>
          </a:xfrm>
        </p:grpSpPr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B93A3868-CCAE-4606-A859-A9FD88294E2A}"/>
                </a:ext>
              </a:extLst>
            </p:cNvPr>
            <p:cNvGrpSpPr/>
            <p:nvPr/>
          </p:nvGrpSpPr>
          <p:grpSpPr>
            <a:xfrm>
              <a:off x="2480235" y="4737100"/>
              <a:ext cx="3964834" cy="369332"/>
              <a:chOff x="2480235" y="4737100"/>
              <a:chExt cx="3964834" cy="369332"/>
            </a:xfrm>
          </p:grpSpPr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65CDAD88-D056-4540-B4AF-5CB6CDAF7279}"/>
                  </a:ext>
                </a:extLst>
              </p:cNvPr>
              <p:cNvSpPr/>
              <p:nvPr/>
            </p:nvSpPr>
            <p:spPr>
              <a:xfrm>
                <a:off x="2480235" y="4832610"/>
                <a:ext cx="1434353" cy="152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1C16D3A7-9E4E-4B48-A02F-C383E00C57F6}"/>
                  </a:ext>
                </a:extLst>
              </p:cNvPr>
              <p:cNvSpPr txBox="1"/>
              <p:nvPr/>
            </p:nvSpPr>
            <p:spPr>
              <a:xfrm>
                <a:off x="5708854" y="4737100"/>
                <a:ext cx="7362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dirty="0"/>
                  <a:t>出荷</a:t>
                </a:r>
              </a:p>
            </p:txBody>
          </p:sp>
        </p:grpSp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44122EA6-0930-4A6B-93BE-AE592A50D367}"/>
                </a:ext>
              </a:extLst>
            </p:cNvPr>
            <p:cNvGrpSpPr/>
            <p:nvPr/>
          </p:nvGrpSpPr>
          <p:grpSpPr>
            <a:xfrm>
              <a:off x="3272117" y="5111603"/>
              <a:ext cx="6408164" cy="769753"/>
              <a:chOff x="3272117" y="5111603"/>
              <a:chExt cx="6408164" cy="769753"/>
            </a:xfrm>
          </p:grpSpPr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951C0FE3-E68A-48BE-ABA3-BD8528B37A18}"/>
                  </a:ext>
                </a:extLst>
              </p:cNvPr>
              <p:cNvSpPr/>
              <p:nvPr/>
            </p:nvSpPr>
            <p:spPr>
              <a:xfrm>
                <a:off x="5647765" y="5192806"/>
                <a:ext cx="3146612" cy="152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1C1B2424-9611-4ECF-BAE5-9297652DAB65}"/>
                  </a:ext>
                </a:extLst>
              </p:cNvPr>
              <p:cNvSpPr/>
              <p:nvPr/>
            </p:nvSpPr>
            <p:spPr>
              <a:xfrm>
                <a:off x="3272117" y="5541970"/>
                <a:ext cx="3146612" cy="1524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C1469865-4468-4A8B-9A0B-529297896376}"/>
                  </a:ext>
                </a:extLst>
              </p:cNvPr>
              <p:cNvSpPr txBox="1"/>
              <p:nvPr/>
            </p:nvSpPr>
            <p:spPr>
              <a:xfrm>
                <a:off x="8944066" y="5111603"/>
                <a:ext cx="7362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dirty="0"/>
                  <a:t>出荷</a:t>
                </a:r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0E351970-F2E0-4B77-9414-905297522ED8}"/>
                  </a:ext>
                </a:extLst>
              </p:cNvPr>
              <p:cNvSpPr txBox="1"/>
              <p:nvPr/>
            </p:nvSpPr>
            <p:spPr>
              <a:xfrm>
                <a:off x="6503531" y="5512024"/>
                <a:ext cx="7362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出荷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7226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2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BBE47C-6DF9-4A67-A562-281EB5324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工程計画書作成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42C3A2-33EB-4543-A6F2-225816C64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個人（班）単位の予定も</a:t>
            </a:r>
          </a:p>
        </p:txBody>
      </p:sp>
      <p:graphicFrame>
        <p:nvGraphicFramePr>
          <p:cNvPr id="4" name="表 4">
            <a:extLst>
              <a:ext uri="{FF2B5EF4-FFF2-40B4-BE49-F238E27FC236}">
                <a16:creationId xmlns:a16="http://schemas.microsoft.com/office/drawing/2014/main" id="{41C0B907-FE93-44FE-B6B3-89AB9D217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507736"/>
              </p:ext>
            </p:extLst>
          </p:nvPr>
        </p:nvGraphicFramePr>
        <p:xfrm>
          <a:off x="592231" y="3003176"/>
          <a:ext cx="11152090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209">
                  <a:extLst>
                    <a:ext uri="{9D8B030D-6E8A-4147-A177-3AD203B41FA5}">
                      <a16:colId xmlns:a16="http://schemas.microsoft.com/office/drawing/2014/main" val="4007901024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1317522895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2229968639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3741870381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394211423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3260522738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4082354420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1830517067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970151421"/>
                    </a:ext>
                  </a:extLst>
                </a:gridCol>
                <a:gridCol w="1115209">
                  <a:extLst>
                    <a:ext uri="{9D8B030D-6E8A-4147-A177-3AD203B41FA5}">
                      <a16:colId xmlns:a16="http://schemas.microsoft.com/office/drawing/2014/main" val="12035843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r>
                        <a:rPr kumimoji="1" lang="ja-JP" altLang="en-US" dirty="0"/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8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</a:t>
                      </a:r>
                      <a:r>
                        <a:rPr kumimoji="1" lang="ja-JP" altLang="en-US" dirty="0"/>
                        <a:t>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116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r>
                        <a:rPr kumimoji="1" lang="ja-JP" altLang="en-US" dirty="0"/>
                        <a:t>物件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コア組立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21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r>
                        <a:rPr kumimoji="1" lang="ja-JP" altLang="en-US" dirty="0"/>
                        <a:t>物件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コア組立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364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</a:t>
                      </a:r>
                      <a:r>
                        <a:rPr kumimoji="1" lang="ja-JP" altLang="en-US" dirty="0"/>
                        <a:t>物件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コア組立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657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</a:t>
                      </a:r>
                      <a:r>
                        <a:rPr kumimoji="1" lang="ja-JP" altLang="en-US" dirty="0"/>
                        <a:t>物件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仕口組立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968785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E67C1BA-0AA8-449D-9A62-705B5C03DC14}"/>
              </a:ext>
            </a:extLst>
          </p:cNvPr>
          <p:cNvSpPr/>
          <p:nvPr/>
        </p:nvSpPr>
        <p:spPr>
          <a:xfrm>
            <a:off x="1858496" y="3584201"/>
            <a:ext cx="2043953" cy="3316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89AF1F2-E2D3-4FFD-9072-0C419822DD75}"/>
              </a:ext>
            </a:extLst>
          </p:cNvPr>
          <p:cNvSpPr/>
          <p:nvPr/>
        </p:nvSpPr>
        <p:spPr>
          <a:xfrm>
            <a:off x="3998260" y="4157557"/>
            <a:ext cx="1667249" cy="3316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0679C2B-B9BD-42E9-8651-3D290CECE806}"/>
              </a:ext>
            </a:extLst>
          </p:cNvPr>
          <p:cNvSpPr/>
          <p:nvPr/>
        </p:nvSpPr>
        <p:spPr>
          <a:xfrm>
            <a:off x="5665508" y="4847840"/>
            <a:ext cx="1551637" cy="3316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35C471D-20C6-4EB0-8F84-6DADFF82E50A}"/>
              </a:ext>
            </a:extLst>
          </p:cNvPr>
          <p:cNvSpPr/>
          <p:nvPr/>
        </p:nvSpPr>
        <p:spPr>
          <a:xfrm>
            <a:off x="7374029" y="5463334"/>
            <a:ext cx="4294096" cy="33169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463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D5344D-EB8F-44C1-94D2-1E48C39E4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実績データ入力</a:t>
            </a:r>
            <a:endParaRPr kumimoji="1" lang="ja-JP" altLang="en-US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009B17DC-E2F4-44E4-A5FF-4930DD525EDA}"/>
              </a:ext>
            </a:extLst>
          </p:cNvPr>
          <p:cNvSpPr/>
          <p:nvPr/>
        </p:nvSpPr>
        <p:spPr>
          <a:xfrm>
            <a:off x="1669729" y="2247804"/>
            <a:ext cx="1613647" cy="65890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組立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464E2EF5-0A51-4F28-AD9D-8FD1D094CC3A}"/>
              </a:ext>
            </a:extLst>
          </p:cNvPr>
          <p:cNvSpPr/>
          <p:nvPr/>
        </p:nvSpPr>
        <p:spPr>
          <a:xfrm>
            <a:off x="3406588" y="2382648"/>
            <a:ext cx="932330" cy="3294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909B469B-C664-45E2-AAF9-4FF87FAC854D}"/>
              </a:ext>
            </a:extLst>
          </p:cNvPr>
          <p:cNvSpPr/>
          <p:nvPr/>
        </p:nvSpPr>
        <p:spPr>
          <a:xfrm>
            <a:off x="3678865" y="2888782"/>
            <a:ext cx="358588" cy="2656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4FC3904-046D-4667-8D26-0C7B83A0F1D8}"/>
              </a:ext>
            </a:extLst>
          </p:cNvPr>
          <p:cNvSpPr/>
          <p:nvPr/>
        </p:nvSpPr>
        <p:spPr>
          <a:xfrm>
            <a:off x="3073747" y="3154468"/>
            <a:ext cx="1568824" cy="1004047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タブレット</a:t>
            </a:r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4A81E9DD-5840-4C3F-9A6F-AEE54B9E313A}"/>
              </a:ext>
            </a:extLst>
          </p:cNvPr>
          <p:cNvSpPr/>
          <p:nvPr/>
        </p:nvSpPr>
        <p:spPr>
          <a:xfrm>
            <a:off x="4846693" y="3528423"/>
            <a:ext cx="1372519" cy="337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CBA33DD-790E-4C16-AFD8-CF1ABD3A7010}"/>
              </a:ext>
            </a:extLst>
          </p:cNvPr>
          <p:cNvSpPr/>
          <p:nvPr/>
        </p:nvSpPr>
        <p:spPr>
          <a:xfrm>
            <a:off x="6241774" y="3093587"/>
            <a:ext cx="3001617" cy="273287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711CDEA-52A2-4091-BB22-7369A95BD6C3}"/>
              </a:ext>
            </a:extLst>
          </p:cNvPr>
          <p:cNvSpPr txBox="1"/>
          <p:nvPr/>
        </p:nvSpPr>
        <p:spPr>
          <a:xfrm>
            <a:off x="6263052" y="3228431"/>
            <a:ext cx="30016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４月１日（水）　組立工程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2G1-1</a:t>
            </a:r>
            <a:r>
              <a:rPr kumimoji="1" lang="ja-JP" altLang="en-US" dirty="0"/>
              <a:t>　</a:t>
            </a:r>
            <a:r>
              <a:rPr kumimoji="1" lang="en-US" altLang="ja-JP" dirty="0"/>
              <a:t>H-200</a:t>
            </a:r>
            <a:r>
              <a:rPr kumimoji="1" lang="ja-JP" altLang="en-US" dirty="0"/>
              <a:t>ｘ</a:t>
            </a:r>
            <a:r>
              <a:rPr kumimoji="1" lang="en-US" altLang="ja-JP" dirty="0"/>
              <a:t>100</a:t>
            </a:r>
            <a:r>
              <a:rPr kumimoji="1" lang="ja-JP" altLang="en-US" dirty="0"/>
              <a:t>　☑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2G1-2</a:t>
            </a:r>
            <a:r>
              <a:rPr kumimoji="1" lang="ja-JP" altLang="en-US" dirty="0"/>
              <a:t>　</a:t>
            </a:r>
            <a:r>
              <a:rPr kumimoji="1" lang="en-US" altLang="ja-JP" dirty="0"/>
              <a:t>H-200</a:t>
            </a:r>
            <a:r>
              <a:rPr kumimoji="1" lang="ja-JP" altLang="en-US" dirty="0"/>
              <a:t>ｘ</a:t>
            </a:r>
            <a:r>
              <a:rPr kumimoji="1" lang="en-US" altLang="ja-JP" dirty="0"/>
              <a:t>100</a:t>
            </a:r>
            <a:r>
              <a:rPr kumimoji="1" lang="ja-JP" altLang="en-US" dirty="0"/>
              <a:t>　□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2G1-3</a:t>
            </a:r>
            <a:r>
              <a:rPr kumimoji="1" lang="ja-JP" altLang="en-US" dirty="0"/>
              <a:t>　</a:t>
            </a:r>
            <a:r>
              <a:rPr kumimoji="1" lang="en-US" altLang="ja-JP" dirty="0"/>
              <a:t>H-200</a:t>
            </a:r>
            <a:r>
              <a:rPr kumimoji="1" lang="ja-JP" altLang="en-US" dirty="0"/>
              <a:t>ｘ</a:t>
            </a:r>
            <a:r>
              <a:rPr kumimoji="1" lang="en-US" altLang="ja-JP" dirty="0"/>
              <a:t>100</a:t>
            </a:r>
            <a:r>
              <a:rPr kumimoji="1" lang="ja-JP" altLang="en-US" dirty="0"/>
              <a:t>　☑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2G1-4</a:t>
            </a:r>
            <a:r>
              <a:rPr kumimoji="1" lang="ja-JP" altLang="en-US" dirty="0"/>
              <a:t>　</a:t>
            </a:r>
            <a:r>
              <a:rPr kumimoji="1" lang="en-US" altLang="ja-JP" dirty="0"/>
              <a:t>H-200</a:t>
            </a:r>
            <a:r>
              <a:rPr kumimoji="1" lang="ja-JP" altLang="en-US" dirty="0"/>
              <a:t>ｘ</a:t>
            </a:r>
            <a:r>
              <a:rPr kumimoji="1" lang="en-US" altLang="ja-JP" dirty="0"/>
              <a:t>100</a:t>
            </a:r>
            <a:r>
              <a:rPr kumimoji="1" lang="ja-JP" altLang="en-US" dirty="0"/>
              <a:t>　□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2G2-1</a:t>
            </a:r>
            <a:r>
              <a:rPr kumimoji="1" lang="ja-JP" altLang="en-US" dirty="0"/>
              <a:t>　</a:t>
            </a:r>
            <a:r>
              <a:rPr kumimoji="1" lang="en-US" altLang="ja-JP" dirty="0"/>
              <a:t>H-150</a:t>
            </a:r>
            <a:r>
              <a:rPr kumimoji="1" lang="ja-JP" altLang="en-US" dirty="0"/>
              <a:t>ｘ</a:t>
            </a:r>
            <a:r>
              <a:rPr kumimoji="1" lang="en-US" altLang="ja-JP" dirty="0"/>
              <a:t>75</a:t>
            </a:r>
            <a:r>
              <a:rPr kumimoji="1" lang="ja-JP" altLang="en-US" dirty="0"/>
              <a:t>  　☑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2G2-2</a:t>
            </a:r>
            <a:r>
              <a:rPr kumimoji="1" lang="ja-JP" altLang="en-US" dirty="0"/>
              <a:t>　</a:t>
            </a:r>
            <a:r>
              <a:rPr kumimoji="1" lang="en-US" altLang="ja-JP" dirty="0"/>
              <a:t>H-150</a:t>
            </a:r>
            <a:r>
              <a:rPr kumimoji="1" lang="ja-JP" altLang="en-US" dirty="0"/>
              <a:t>ｘ</a:t>
            </a:r>
            <a:r>
              <a:rPr kumimoji="1" lang="en-US" altLang="ja-JP" dirty="0"/>
              <a:t>75</a:t>
            </a:r>
            <a:r>
              <a:rPr kumimoji="1" lang="ja-JP" altLang="en-US" dirty="0"/>
              <a:t>　  □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2G2-3</a:t>
            </a:r>
            <a:r>
              <a:rPr kumimoji="1" lang="ja-JP" altLang="en-US" dirty="0"/>
              <a:t>　</a:t>
            </a:r>
            <a:r>
              <a:rPr kumimoji="1" lang="en-US" altLang="ja-JP" dirty="0"/>
              <a:t>H-150</a:t>
            </a:r>
            <a:r>
              <a:rPr kumimoji="1" lang="ja-JP" altLang="en-US" dirty="0"/>
              <a:t>ｘ</a:t>
            </a:r>
            <a:r>
              <a:rPr kumimoji="1" lang="en-US" altLang="ja-JP" dirty="0"/>
              <a:t>75</a:t>
            </a:r>
            <a:r>
              <a:rPr kumimoji="1" lang="ja-JP" altLang="en-US" dirty="0"/>
              <a:t>　  ☑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2G2-4</a:t>
            </a:r>
            <a:r>
              <a:rPr kumimoji="1" lang="ja-JP" altLang="en-US" dirty="0"/>
              <a:t>　</a:t>
            </a:r>
            <a:r>
              <a:rPr kumimoji="1" lang="en-US" altLang="ja-JP" dirty="0"/>
              <a:t>H-150</a:t>
            </a:r>
            <a:r>
              <a:rPr kumimoji="1" lang="ja-JP" altLang="en-US" dirty="0"/>
              <a:t>ｘ</a:t>
            </a:r>
            <a:r>
              <a:rPr kumimoji="1" lang="en-US" altLang="ja-JP" dirty="0"/>
              <a:t>75</a:t>
            </a:r>
            <a:r>
              <a:rPr kumimoji="1" lang="ja-JP" altLang="en-US" dirty="0"/>
              <a:t>　  □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23" name="雲 22">
            <a:extLst>
              <a:ext uri="{FF2B5EF4-FFF2-40B4-BE49-F238E27FC236}">
                <a16:creationId xmlns:a16="http://schemas.microsoft.com/office/drawing/2014/main" id="{FB371273-C658-4FF4-81CA-92DA7C312C48}"/>
              </a:ext>
            </a:extLst>
          </p:cNvPr>
          <p:cNvSpPr/>
          <p:nvPr/>
        </p:nvSpPr>
        <p:spPr>
          <a:xfrm>
            <a:off x="2643809" y="4688231"/>
            <a:ext cx="2484782" cy="141135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クラウド</a:t>
            </a:r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0A7A136B-1E7B-420B-9255-1E471C90C5D8}"/>
              </a:ext>
            </a:extLst>
          </p:cNvPr>
          <p:cNvSpPr/>
          <p:nvPr/>
        </p:nvSpPr>
        <p:spPr>
          <a:xfrm>
            <a:off x="6219212" y="2382648"/>
            <a:ext cx="936858" cy="337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52550E28-1A30-4295-85A7-C9B869C5633D}"/>
              </a:ext>
            </a:extLst>
          </p:cNvPr>
          <p:cNvGrpSpPr/>
          <p:nvPr/>
        </p:nvGrpSpPr>
        <p:grpSpPr>
          <a:xfrm>
            <a:off x="7274754" y="2247804"/>
            <a:ext cx="1633870" cy="682811"/>
            <a:chOff x="7274754" y="2247804"/>
            <a:chExt cx="1633870" cy="682811"/>
          </a:xfrm>
        </p:grpSpPr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628B4E40-DD17-4339-8767-081A118F4DE5}"/>
                </a:ext>
              </a:extLst>
            </p:cNvPr>
            <p:cNvSpPr/>
            <p:nvPr/>
          </p:nvSpPr>
          <p:spPr>
            <a:xfrm>
              <a:off x="7274754" y="2247804"/>
              <a:ext cx="1633870" cy="682811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FC010D43-6620-42D3-866A-CFFC9BFDDAF3}"/>
                </a:ext>
              </a:extLst>
            </p:cNvPr>
            <p:cNvSpPr txBox="1"/>
            <p:nvPr/>
          </p:nvSpPr>
          <p:spPr>
            <a:xfrm>
              <a:off x="7742583" y="2391519"/>
              <a:ext cx="735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塗装</a:t>
              </a:r>
            </a:p>
          </p:txBody>
        </p:sp>
      </p:grpSp>
      <p:pic>
        <p:nvPicPr>
          <p:cNvPr id="7" name="コンテンツ プレースホルダー 6" descr="仕口&#10;">
            <a:extLst>
              <a:ext uri="{FF2B5EF4-FFF2-40B4-BE49-F238E27FC236}">
                <a16:creationId xmlns:a16="http://schemas.microsoft.com/office/drawing/2014/main" id="{00C67BA7-E0FA-4259-B08E-9BBD08040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2130" y="2223899"/>
            <a:ext cx="1633870" cy="682811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8F17A89-3964-47D0-84B2-54357B46FF95}"/>
              </a:ext>
            </a:extLst>
          </p:cNvPr>
          <p:cNvSpPr txBox="1"/>
          <p:nvPr/>
        </p:nvSpPr>
        <p:spPr>
          <a:xfrm>
            <a:off x="4930588" y="239151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溶接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070C99-EED9-45AE-A81B-B5B1B296CDCD}"/>
              </a:ext>
            </a:extLst>
          </p:cNvPr>
          <p:cNvSpPr txBox="1"/>
          <p:nvPr/>
        </p:nvSpPr>
        <p:spPr>
          <a:xfrm>
            <a:off x="9285947" y="4072132"/>
            <a:ext cx="25527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タブレット、スマフォからデータ入力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ストックヤードの入力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進捗更新用アプリ</a:t>
            </a:r>
            <a:endParaRPr kumimoji="1" lang="en-US" altLang="ja-JP" dirty="0"/>
          </a:p>
          <a:p>
            <a:r>
              <a:rPr kumimoji="1" lang="ja-JP" altLang="en-US" dirty="0"/>
              <a:t>閲覧用アプリ</a:t>
            </a:r>
            <a:endParaRPr kumimoji="1" lang="en-US" altLang="ja-JP" dirty="0"/>
          </a:p>
          <a:p>
            <a:r>
              <a:rPr kumimoji="1" lang="ja-JP" altLang="en-US" dirty="0"/>
              <a:t>別々に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40E4F7F-1266-4F8A-9067-38BCC94D9DBC}"/>
              </a:ext>
            </a:extLst>
          </p:cNvPr>
          <p:cNvSpPr txBox="1"/>
          <p:nvPr/>
        </p:nvSpPr>
        <p:spPr>
          <a:xfrm>
            <a:off x="1100918" y="1879206"/>
            <a:ext cx="2301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データ取得方法</a:t>
            </a:r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C7D511E7-E55E-492A-8066-CD7AFACF4FC0}"/>
              </a:ext>
            </a:extLst>
          </p:cNvPr>
          <p:cNvSpPr/>
          <p:nvPr/>
        </p:nvSpPr>
        <p:spPr>
          <a:xfrm>
            <a:off x="3700679" y="4158516"/>
            <a:ext cx="336774" cy="4687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443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8" grpId="0" animBg="1"/>
      <p:bldP spid="20" grpId="0" animBg="1"/>
      <p:bldP spid="21" grpId="0"/>
      <p:bldP spid="23" grpId="0" animBg="1"/>
      <p:bldP spid="24" grpId="0" animBg="1"/>
      <p:bldP spid="13" grpId="0"/>
      <p:bldP spid="5" grpId="0"/>
      <p:bldP spid="3" grpId="0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EEC39F-8DF2-4794-92C4-D12C607C2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実績データ入力</a:t>
            </a:r>
          </a:p>
        </p:txBody>
      </p:sp>
      <p:pic>
        <p:nvPicPr>
          <p:cNvPr id="12" name="コンテンツ プレースホルダー 11">
            <a:extLst>
              <a:ext uri="{FF2B5EF4-FFF2-40B4-BE49-F238E27FC236}">
                <a16:creationId xmlns:a16="http://schemas.microsoft.com/office/drawing/2014/main" id="{0D4B458D-B875-4AF4-BC79-DB0EA95D0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2647013"/>
            <a:ext cx="4521495" cy="1292975"/>
          </a:xfrm>
          <a:prstGeom prst="rect">
            <a:avLst/>
          </a:prstGeom>
        </p:spPr>
      </p:pic>
      <p:pic>
        <p:nvPicPr>
          <p:cNvPr id="13" name="コンテンツ プレースホルダー 11">
            <a:extLst>
              <a:ext uri="{FF2B5EF4-FFF2-40B4-BE49-F238E27FC236}">
                <a16:creationId xmlns:a16="http://schemas.microsoft.com/office/drawing/2014/main" id="{DBEEB111-87AD-440A-A076-DAE11CC0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141" y="2647013"/>
            <a:ext cx="4521495" cy="1292975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0193056-F0E3-4777-91A1-AA63033FDE57}"/>
              </a:ext>
            </a:extLst>
          </p:cNvPr>
          <p:cNvSpPr/>
          <p:nvPr/>
        </p:nvSpPr>
        <p:spPr>
          <a:xfrm>
            <a:off x="1506072" y="2913529"/>
            <a:ext cx="797857" cy="8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D171CCE-8076-4458-A155-70B620A9B24A}"/>
              </a:ext>
            </a:extLst>
          </p:cNvPr>
          <p:cNvSpPr/>
          <p:nvPr/>
        </p:nvSpPr>
        <p:spPr>
          <a:xfrm>
            <a:off x="1972236" y="3144186"/>
            <a:ext cx="797857" cy="8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E7773F0-2E20-4F76-8BED-002CF56AA951}"/>
              </a:ext>
            </a:extLst>
          </p:cNvPr>
          <p:cNvSpPr/>
          <p:nvPr/>
        </p:nvSpPr>
        <p:spPr>
          <a:xfrm>
            <a:off x="2420694" y="3309004"/>
            <a:ext cx="797857" cy="8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CAD51F8-096B-4E2B-B379-824A5F26612E}"/>
              </a:ext>
            </a:extLst>
          </p:cNvPr>
          <p:cNvSpPr/>
          <p:nvPr/>
        </p:nvSpPr>
        <p:spPr>
          <a:xfrm>
            <a:off x="2885946" y="3468314"/>
            <a:ext cx="797857" cy="8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C46AAF9-23DB-44E4-AACB-A7F66E479773}"/>
              </a:ext>
            </a:extLst>
          </p:cNvPr>
          <p:cNvSpPr/>
          <p:nvPr/>
        </p:nvSpPr>
        <p:spPr>
          <a:xfrm>
            <a:off x="3754755" y="3614999"/>
            <a:ext cx="407203" cy="84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1752A6E-21AF-426B-896F-9DB5C76C30BD}"/>
              </a:ext>
            </a:extLst>
          </p:cNvPr>
          <p:cNvSpPr/>
          <p:nvPr/>
        </p:nvSpPr>
        <p:spPr>
          <a:xfrm>
            <a:off x="4200525" y="3777615"/>
            <a:ext cx="407203" cy="85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7D5428C-83CE-4B54-B9A8-789131BD9968}"/>
              </a:ext>
            </a:extLst>
          </p:cNvPr>
          <p:cNvSpPr/>
          <p:nvPr/>
        </p:nvSpPr>
        <p:spPr>
          <a:xfrm>
            <a:off x="3218552" y="3309002"/>
            <a:ext cx="465252" cy="806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フローチャート: 結合子 21">
            <a:extLst>
              <a:ext uri="{FF2B5EF4-FFF2-40B4-BE49-F238E27FC236}">
                <a16:creationId xmlns:a16="http://schemas.microsoft.com/office/drawing/2014/main" id="{D9C79A0F-9AFB-4FD5-9835-6EC879F83E17}"/>
              </a:ext>
            </a:extLst>
          </p:cNvPr>
          <p:cNvSpPr/>
          <p:nvPr/>
        </p:nvSpPr>
        <p:spPr>
          <a:xfrm>
            <a:off x="3105150" y="3144186"/>
            <a:ext cx="758190" cy="404811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A831634-A623-4425-8F71-2BD704597608}"/>
              </a:ext>
            </a:extLst>
          </p:cNvPr>
          <p:cNvSpPr txBox="1"/>
          <p:nvPr/>
        </p:nvSpPr>
        <p:spPr>
          <a:xfrm>
            <a:off x="1125854" y="1886690"/>
            <a:ext cx="3074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予定と実績の対比</a:t>
            </a: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590D5C8-6803-45DB-90FF-069864B278FB}"/>
              </a:ext>
            </a:extLst>
          </p:cNvPr>
          <p:cNvCxnSpPr>
            <a:endCxn id="22" idx="0"/>
          </p:cNvCxnSpPr>
          <p:nvPr/>
        </p:nvCxnSpPr>
        <p:spPr>
          <a:xfrm flipH="1">
            <a:off x="3484245" y="2475823"/>
            <a:ext cx="418762" cy="66836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C5C2ECC0-673D-4FD6-A38B-E06A01CB4CBA}"/>
              </a:ext>
            </a:extLst>
          </p:cNvPr>
          <p:cNvSpPr txBox="1"/>
          <p:nvPr/>
        </p:nvSpPr>
        <p:spPr>
          <a:xfrm>
            <a:off x="3631957" y="2199052"/>
            <a:ext cx="670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遅れ</a:t>
            </a: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BA8C4AAD-F0DA-492D-9C4A-E13625A7BAA8}"/>
              </a:ext>
            </a:extLst>
          </p:cNvPr>
          <p:cNvSpPr/>
          <p:nvPr/>
        </p:nvSpPr>
        <p:spPr>
          <a:xfrm>
            <a:off x="4404126" y="5480304"/>
            <a:ext cx="2866730" cy="792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生産管理システム</a:t>
            </a:r>
          </a:p>
        </p:txBody>
      </p:sp>
      <p:sp>
        <p:nvSpPr>
          <p:cNvPr id="28" name="矢印: 下 27">
            <a:extLst>
              <a:ext uri="{FF2B5EF4-FFF2-40B4-BE49-F238E27FC236}">
                <a16:creationId xmlns:a16="http://schemas.microsoft.com/office/drawing/2014/main" id="{5CC83F38-AF28-40EF-A03D-E58760BBC075}"/>
              </a:ext>
            </a:extLst>
          </p:cNvPr>
          <p:cNvSpPr/>
          <p:nvPr/>
        </p:nvSpPr>
        <p:spPr>
          <a:xfrm rot="19344002">
            <a:off x="4137186" y="3954138"/>
            <a:ext cx="418762" cy="1628709"/>
          </a:xfrm>
          <a:prstGeom prst="downArrow">
            <a:avLst>
              <a:gd name="adj1" fmla="val 50000"/>
              <a:gd name="adj2" fmla="val 475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636AD2C-FCC8-4A79-9B56-DB22604B4F46}"/>
              </a:ext>
            </a:extLst>
          </p:cNvPr>
          <p:cNvSpPr txBox="1"/>
          <p:nvPr/>
        </p:nvSpPr>
        <p:spPr>
          <a:xfrm>
            <a:off x="3142969" y="4768492"/>
            <a:ext cx="1223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お知らせ</a:t>
            </a:r>
          </a:p>
        </p:txBody>
      </p:sp>
      <p:sp>
        <p:nvSpPr>
          <p:cNvPr id="30" name="矢印: 下 29">
            <a:extLst>
              <a:ext uri="{FF2B5EF4-FFF2-40B4-BE49-F238E27FC236}">
                <a16:creationId xmlns:a16="http://schemas.microsoft.com/office/drawing/2014/main" id="{D532FCD5-6719-4532-83B1-4305100D3A7D}"/>
              </a:ext>
            </a:extLst>
          </p:cNvPr>
          <p:cNvSpPr/>
          <p:nvPr/>
        </p:nvSpPr>
        <p:spPr>
          <a:xfrm rot="13466442">
            <a:off x="7118079" y="3893922"/>
            <a:ext cx="406400" cy="17053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CAF8465-09D8-4926-8EC7-963F76ADF13F}"/>
              </a:ext>
            </a:extLst>
          </p:cNvPr>
          <p:cNvSpPr/>
          <p:nvPr/>
        </p:nvSpPr>
        <p:spPr>
          <a:xfrm>
            <a:off x="6472999" y="2913529"/>
            <a:ext cx="797857" cy="8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2A2E9F6-2E02-4FF4-95DB-7447B99ACCA4}"/>
              </a:ext>
            </a:extLst>
          </p:cNvPr>
          <p:cNvSpPr/>
          <p:nvPr/>
        </p:nvSpPr>
        <p:spPr>
          <a:xfrm>
            <a:off x="6922350" y="3144186"/>
            <a:ext cx="797857" cy="8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9F2874DD-4C37-4883-8BAF-F0B4178E02EB}"/>
              </a:ext>
            </a:extLst>
          </p:cNvPr>
          <p:cNvSpPr/>
          <p:nvPr/>
        </p:nvSpPr>
        <p:spPr>
          <a:xfrm>
            <a:off x="7394808" y="3309002"/>
            <a:ext cx="862733" cy="65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1F26C64-9999-427C-844C-1ED4DB148BAF}"/>
              </a:ext>
            </a:extLst>
          </p:cNvPr>
          <p:cNvSpPr/>
          <p:nvPr/>
        </p:nvSpPr>
        <p:spPr>
          <a:xfrm>
            <a:off x="8290561" y="3462670"/>
            <a:ext cx="833542" cy="8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C4965FC-58EC-4F40-8C91-12D5E86431DF}"/>
              </a:ext>
            </a:extLst>
          </p:cNvPr>
          <p:cNvSpPr/>
          <p:nvPr/>
        </p:nvSpPr>
        <p:spPr>
          <a:xfrm>
            <a:off x="9174099" y="3627111"/>
            <a:ext cx="407203" cy="84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A7A4A32-8088-4650-AB08-069FC82B08E4}"/>
              </a:ext>
            </a:extLst>
          </p:cNvPr>
          <p:cNvSpPr/>
          <p:nvPr/>
        </p:nvSpPr>
        <p:spPr>
          <a:xfrm>
            <a:off x="9631299" y="3777535"/>
            <a:ext cx="407203" cy="84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5B48F487-7585-43B7-9B65-4A78F879EB8E}"/>
              </a:ext>
            </a:extLst>
          </p:cNvPr>
          <p:cNvSpPr/>
          <p:nvPr/>
        </p:nvSpPr>
        <p:spPr>
          <a:xfrm>
            <a:off x="8257541" y="3309002"/>
            <a:ext cx="440224" cy="658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26735325-CAC8-468E-8099-172F4A79BF9F}"/>
              </a:ext>
            </a:extLst>
          </p:cNvPr>
          <p:cNvCxnSpPr/>
          <p:nvPr/>
        </p:nvCxnSpPr>
        <p:spPr>
          <a:xfrm>
            <a:off x="7826174" y="3503011"/>
            <a:ext cx="4297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5F03AEC1-3089-47CB-A4F9-01F334418165}"/>
              </a:ext>
            </a:extLst>
          </p:cNvPr>
          <p:cNvCxnSpPr/>
          <p:nvPr/>
        </p:nvCxnSpPr>
        <p:spPr>
          <a:xfrm>
            <a:off x="8740140" y="3657254"/>
            <a:ext cx="38396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E9641A90-6EEA-4D03-BDC7-3A7D1B7E7326}"/>
              </a:ext>
            </a:extLst>
          </p:cNvPr>
          <p:cNvCxnSpPr/>
          <p:nvPr/>
        </p:nvCxnSpPr>
        <p:spPr>
          <a:xfrm>
            <a:off x="9174099" y="3813995"/>
            <a:ext cx="40720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5A1BF199-C344-4C9B-B61C-164BD6461D57}"/>
              </a:ext>
            </a:extLst>
          </p:cNvPr>
          <p:cNvSpPr txBox="1"/>
          <p:nvPr/>
        </p:nvSpPr>
        <p:spPr>
          <a:xfrm>
            <a:off x="8023013" y="4577186"/>
            <a:ext cx="2202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・工程計画の変更</a:t>
            </a:r>
            <a:endParaRPr kumimoji="1" lang="en-US" altLang="ja-JP" dirty="0"/>
          </a:p>
          <a:p>
            <a:r>
              <a:rPr kumimoji="1" lang="ja-JP" altLang="en-US" sz="1100" dirty="0"/>
              <a:t>→物理的に可能かどうかの判断</a:t>
            </a:r>
            <a:endParaRPr kumimoji="1" lang="en-US" altLang="ja-JP" sz="1100" dirty="0"/>
          </a:p>
          <a:p>
            <a:r>
              <a:rPr kumimoji="1" lang="ja-JP" altLang="en-US" sz="1100" dirty="0"/>
              <a:t>　増員、残業、休日出勤、外注</a:t>
            </a:r>
          </a:p>
        </p:txBody>
      </p:sp>
    </p:spTree>
    <p:extLst>
      <p:ext uri="{BB962C8B-B14F-4D97-AF65-F5344CB8AC3E}">
        <p14:creationId xmlns:p14="http://schemas.microsoft.com/office/powerpoint/2010/main" val="89399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1" grpId="0"/>
      <p:bldP spid="26" grpId="0"/>
      <p:bldP spid="27" grpId="0" animBg="1"/>
      <p:bldP spid="28" grpId="0" animBg="1"/>
      <p:bldP spid="29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B104B8-AC9E-4490-B4F6-03EF34239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実績データ入力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8EA44FDA-A230-46C1-B9F3-1D8A803C5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368" t="16815" r="14276" b="17387"/>
          <a:stretch/>
        </p:blipFill>
        <p:spPr>
          <a:xfrm>
            <a:off x="2413186" y="2111138"/>
            <a:ext cx="5307106" cy="152218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98FDBD9-7828-4A7B-8A36-86A0053E904D}"/>
              </a:ext>
            </a:extLst>
          </p:cNvPr>
          <p:cNvSpPr txBox="1"/>
          <p:nvPr/>
        </p:nvSpPr>
        <p:spPr>
          <a:xfrm>
            <a:off x="2686611" y="4375897"/>
            <a:ext cx="2492188" cy="197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DB6B9D46-A15A-4D83-A340-FEAAF08937A8}"/>
              </a:ext>
            </a:extLst>
          </p:cNvPr>
          <p:cNvSpPr/>
          <p:nvPr/>
        </p:nvSpPr>
        <p:spPr>
          <a:xfrm>
            <a:off x="1592916" y="3763146"/>
            <a:ext cx="1640541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作業開始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94049B17-7CE3-4280-86A0-7D6171EFD8FE}"/>
              </a:ext>
            </a:extLst>
          </p:cNvPr>
          <p:cNvSpPr/>
          <p:nvPr/>
        </p:nvSpPr>
        <p:spPr>
          <a:xfrm>
            <a:off x="6622114" y="3703967"/>
            <a:ext cx="1640541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作業終了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B3254DCE-7463-4B54-BD89-D7C59835D26F}"/>
              </a:ext>
            </a:extLst>
          </p:cNvPr>
          <p:cNvSpPr/>
          <p:nvPr/>
        </p:nvSpPr>
        <p:spPr>
          <a:xfrm>
            <a:off x="3372410" y="3915620"/>
            <a:ext cx="3110752" cy="4039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71510E0D-B1C2-450D-BBE3-5BF18739E82B}"/>
              </a:ext>
            </a:extLst>
          </p:cNvPr>
          <p:cNvSpPr/>
          <p:nvPr/>
        </p:nvSpPr>
        <p:spPr>
          <a:xfrm>
            <a:off x="4750150" y="4345924"/>
            <a:ext cx="355271" cy="76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CB05A795-2B1F-43A6-8FA5-511F6A026977}"/>
              </a:ext>
            </a:extLst>
          </p:cNvPr>
          <p:cNvSpPr/>
          <p:nvPr/>
        </p:nvSpPr>
        <p:spPr>
          <a:xfrm>
            <a:off x="3428439" y="5189218"/>
            <a:ext cx="2998694" cy="15446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・時間２時間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・溶接長　</a:t>
            </a:r>
            <a:r>
              <a:rPr kumimoji="1" lang="en-US" altLang="ja-JP" dirty="0"/>
              <a:t>13.228</a:t>
            </a:r>
            <a:r>
              <a:rPr kumimoji="1" lang="ja-JP" altLang="en-US" dirty="0"/>
              <a:t>メートル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・ピース数：</a:t>
            </a:r>
            <a:r>
              <a:rPr kumimoji="1" lang="en-US" altLang="ja-JP" dirty="0"/>
              <a:t>4</a:t>
            </a:r>
            <a:r>
              <a:rPr kumimoji="1" lang="ja-JP" altLang="en-US" dirty="0"/>
              <a:t>枚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・梁サイズなど</a:t>
            </a:r>
          </a:p>
        </p:txBody>
      </p:sp>
      <p:sp>
        <p:nvSpPr>
          <p:cNvPr id="12" name="雲 11">
            <a:extLst>
              <a:ext uri="{FF2B5EF4-FFF2-40B4-BE49-F238E27FC236}">
                <a16:creationId xmlns:a16="http://schemas.microsoft.com/office/drawing/2014/main" id="{E4961B63-33BC-4321-8F43-C64FF1947AC8}"/>
              </a:ext>
            </a:extLst>
          </p:cNvPr>
          <p:cNvSpPr/>
          <p:nvPr/>
        </p:nvSpPr>
        <p:spPr>
          <a:xfrm>
            <a:off x="7955615" y="5189218"/>
            <a:ext cx="2492188" cy="149961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クラウド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FC4D33E7-CB5B-47BE-8692-8EF9F6AB2E82}"/>
              </a:ext>
            </a:extLst>
          </p:cNvPr>
          <p:cNvSpPr/>
          <p:nvPr/>
        </p:nvSpPr>
        <p:spPr>
          <a:xfrm>
            <a:off x="6567316" y="5759553"/>
            <a:ext cx="1232649" cy="4039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上 13">
            <a:extLst>
              <a:ext uri="{FF2B5EF4-FFF2-40B4-BE49-F238E27FC236}">
                <a16:creationId xmlns:a16="http://schemas.microsoft.com/office/drawing/2014/main" id="{A45F2C91-907F-409C-97FC-9C95C52AAE5B}"/>
              </a:ext>
            </a:extLst>
          </p:cNvPr>
          <p:cNvSpPr/>
          <p:nvPr/>
        </p:nvSpPr>
        <p:spPr>
          <a:xfrm>
            <a:off x="8905877" y="2737297"/>
            <a:ext cx="372035" cy="224428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1370E27B-95EB-42AA-B06D-B3C06C3981EC}"/>
              </a:ext>
            </a:extLst>
          </p:cNvPr>
          <p:cNvSpPr/>
          <p:nvPr/>
        </p:nvSpPr>
        <p:spPr>
          <a:xfrm>
            <a:off x="7955615" y="1816444"/>
            <a:ext cx="2492188" cy="839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工程計画作成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0D7144D-C9C3-41B3-B8A5-1D48659BB8B0}"/>
              </a:ext>
            </a:extLst>
          </p:cNvPr>
          <p:cNvSpPr txBox="1"/>
          <p:nvPr/>
        </p:nvSpPr>
        <p:spPr>
          <a:xfrm>
            <a:off x="9280148" y="3730954"/>
            <a:ext cx="1194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P.5</a:t>
            </a:r>
            <a:r>
              <a:rPr kumimoji="1" lang="ja-JP" altLang="en-US" dirty="0"/>
              <a:t>の指標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0C3B189-599D-413D-BA1B-056C453BFAD3}"/>
              </a:ext>
            </a:extLst>
          </p:cNvPr>
          <p:cNvSpPr txBox="1"/>
          <p:nvPr/>
        </p:nvSpPr>
        <p:spPr>
          <a:xfrm>
            <a:off x="6427134" y="5107924"/>
            <a:ext cx="1528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実績を蓄積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5274D30-3921-4E83-A89F-170811F42C84}"/>
              </a:ext>
            </a:extLst>
          </p:cNvPr>
          <p:cNvSpPr txBox="1"/>
          <p:nvPr/>
        </p:nvSpPr>
        <p:spPr>
          <a:xfrm>
            <a:off x="557493" y="2050179"/>
            <a:ext cx="207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生産能力の把握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8410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A271F2-9CD1-4944-AD63-4119203BC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各種帳票出力</a:t>
            </a:r>
          </a:p>
        </p:txBody>
      </p:sp>
      <p:pic>
        <p:nvPicPr>
          <p:cNvPr id="12" name="コンテンツ プレースホルダー 11">
            <a:extLst>
              <a:ext uri="{FF2B5EF4-FFF2-40B4-BE49-F238E27FC236}">
                <a16:creationId xmlns:a16="http://schemas.microsoft.com/office/drawing/2014/main" id="{748E6105-740F-45DD-881E-5EB75873C5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2653426"/>
            <a:ext cx="5596678" cy="195377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8743AF15-9003-4A08-8DDA-60E2F601E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806" y="2517503"/>
            <a:ext cx="4777740" cy="2356393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0786516-D514-46D0-B6D0-9A9D3B29753B}"/>
              </a:ext>
            </a:extLst>
          </p:cNvPr>
          <p:cNvSpPr txBox="1"/>
          <p:nvPr/>
        </p:nvSpPr>
        <p:spPr>
          <a:xfrm>
            <a:off x="1024128" y="1931835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リスト出力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BD1F87F-F097-45A0-A26C-75C07F03171B}"/>
              </a:ext>
            </a:extLst>
          </p:cNvPr>
          <p:cNvSpPr txBox="1"/>
          <p:nvPr/>
        </p:nvSpPr>
        <p:spPr>
          <a:xfrm>
            <a:off x="1219200" y="4743119"/>
            <a:ext cx="93954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絞り込み機能等を使用</a:t>
            </a:r>
            <a:endParaRPr kumimoji="1" lang="en-US" altLang="ja-JP" dirty="0"/>
          </a:p>
          <a:p>
            <a:r>
              <a:rPr kumimoji="1" lang="ja-JP" altLang="en-US" sz="1600" dirty="0"/>
              <a:t>・日付ごと、工程ごと、部材種類ごと、作業者ごとなどでソート（原価管理システムのイメージ）</a:t>
            </a:r>
            <a:endParaRPr kumimoji="1" lang="en-US" altLang="ja-JP" sz="1600" dirty="0"/>
          </a:p>
          <a:p>
            <a:r>
              <a:rPr kumimoji="1" lang="ja-JP" altLang="en-US" sz="1600" dirty="0"/>
              <a:t>　→製品情報（</a:t>
            </a:r>
            <a:r>
              <a:rPr kumimoji="1" lang="en-US" altLang="ja-JP" sz="1600" dirty="0"/>
              <a:t>REAL4</a:t>
            </a:r>
            <a:r>
              <a:rPr kumimoji="1" lang="ja-JP" altLang="en-US" sz="1600" dirty="0"/>
              <a:t>データに存在する情報）をリスト化できる</a:t>
            </a:r>
            <a:endParaRPr kumimoji="1" lang="en-US" altLang="ja-JP" sz="1600" dirty="0"/>
          </a:p>
          <a:p>
            <a:r>
              <a:rPr kumimoji="1" lang="ja-JP" altLang="en-US" sz="1600" dirty="0"/>
              <a:t>　→進捗実績と作業者単価から労務費を確認できる</a:t>
            </a:r>
            <a:endParaRPr kumimoji="1"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3005211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675E45-5149-4672-BE34-B7D02BE37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各種帳票出力</a:t>
            </a:r>
          </a:p>
        </p:txBody>
      </p:sp>
      <p:graphicFrame>
        <p:nvGraphicFramePr>
          <p:cNvPr id="9" name="グラフ 8">
            <a:extLst>
              <a:ext uri="{FF2B5EF4-FFF2-40B4-BE49-F238E27FC236}">
                <a16:creationId xmlns:a16="http://schemas.microsoft.com/office/drawing/2014/main" id="{8E2026B6-38C0-4EB3-BB57-15B6742C9B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5816772"/>
              </p:ext>
            </p:extLst>
          </p:nvPr>
        </p:nvGraphicFramePr>
        <p:xfrm>
          <a:off x="8188960" y="2520626"/>
          <a:ext cx="3464750" cy="3728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CA76CC7-4E5E-451C-9FC0-2FD639928713}"/>
              </a:ext>
            </a:extLst>
          </p:cNvPr>
          <p:cNvSpPr txBox="1"/>
          <p:nvPr/>
        </p:nvSpPr>
        <p:spPr>
          <a:xfrm>
            <a:off x="1024128" y="1900166"/>
            <a:ext cx="235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グラフ出力</a:t>
            </a:r>
          </a:p>
        </p:txBody>
      </p:sp>
      <p:graphicFrame>
        <p:nvGraphicFramePr>
          <p:cNvPr id="15" name="コンテンツ プレースホルダー 14">
            <a:extLst>
              <a:ext uri="{FF2B5EF4-FFF2-40B4-BE49-F238E27FC236}">
                <a16:creationId xmlns:a16="http://schemas.microsoft.com/office/drawing/2014/main" id="{AA85F973-F51B-4E29-8044-D7F257819A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3997556"/>
              </p:ext>
            </p:extLst>
          </p:nvPr>
        </p:nvGraphicFramePr>
        <p:xfrm>
          <a:off x="4541265" y="2520626"/>
          <a:ext cx="4025394" cy="34982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6" name="図 15">
            <a:extLst>
              <a:ext uri="{FF2B5EF4-FFF2-40B4-BE49-F238E27FC236}">
                <a16:creationId xmlns:a16="http://schemas.microsoft.com/office/drawing/2014/main" id="{69A2F3AB-43F9-4551-9AB2-92155AF84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2520626"/>
            <a:ext cx="4187444" cy="316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19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DB2A4E-FA05-4A67-B6BA-6B6E0973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各種帳票出力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A057F75C-9E3A-4551-B7D5-6817B6F66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4289" y="2980296"/>
            <a:ext cx="4145639" cy="284707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2F7890E-AF07-456E-899A-0AE2128A4426}"/>
              </a:ext>
            </a:extLst>
          </p:cNvPr>
          <p:cNvSpPr txBox="1"/>
          <p:nvPr/>
        </p:nvSpPr>
        <p:spPr>
          <a:xfrm>
            <a:off x="1024128" y="1900166"/>
            <a:ext cx="325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図面（キープラン付き）出力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13FD490-56BF-4433-BB89-C5170BDE7ECB}"/>
              </a:ext>
            </a:extLst>
          </p:cNvPr>
          <p:cNvSpPr txBox="1"/>
          <p:nvPr/>
        </p:nvSpPr>
        <p:spPr>
          <a:xfrm>
            <a:off x="2346960" y="2440231"/>
            <a:ext cx="218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カラー表示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7E422E3-D9CC-4EC6-9373-3B117A1F8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124" y="2980296"/>
            <a:ext cx="4145639" cy="2874418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043B6B3-C06B-4284-A0C2-F985028F5250}"/>
              </a:ext>
            </a:extLst>
          </p:cNvPr>
          <p:cNvSpPr txBox="1"/>
          <p:nvPr/>
        </p:nvSpPr>
        <p:spPr>
          <a:xfrm>
            <a:off x="7995920" y="2440231"/>
            <a:ext cx="184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完成品表示</a:t>
            </a:r>
          </a:p>
        </p:txBody>
      </p:sp>
    </p:spTree>
    <p:extLst>
      <p:ext uri="{BB962C8B-B14F-4D97-AF65-F5344CB8AC3E}">
        <p14:creationId xmlns:p14="http://schemas.microsoft.com/office/powerpoint/2010/main" val="562992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76C046-D82C-4A80-B544-89E514130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各種帳票出力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D49F2D33-2353-433F-AADE-1B9B455CD2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5671" y="2929826"/>
            <a:ext cx="4011516" cy="284707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5D13F78-3AC8-4B84-ABAC-712237EA4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977" y="2929826"/>
            <a:ext cx="3965223" cy="284708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D32C727-A8D1-47A7-96FB-59DD92C9465B}"/>
              </a:ext>
            </a:extLst>
          </p:cNvPr>
          <p:cNvSpPr txBox="1"/>
          <p:nvPr/>
        </p:nvSpPr>
        <p:spPr>
          <a:xfrm>
            <a:off x="1117600" y="1900166"/>
            <a:ext cx="171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+mn-ea"/>
              </a:rPr>
              <a:t>3D</a:t>
            </a:r>
            <a:r>
              <a:rPr kumimoji="1" lang="ja-JP" altLang="en-US" dirty="0">
                <a:latin typeface="+mn-ea"/>
              </a:rPr>
              <a:t>出力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4E8BC84-EDE8-4C5C-9838-C795A1532177}"/>
              </a:ext>
            </a:extLst>
          </p:cNvPr>
          <p:cNvSpPr txBox="1"/>
          <p:nvPr/>
        </p:nvSpPr>
        <p:spPr>
          <a:xfrm>
            <a:off x="2560320" y="2414996"/>
            <a:ext cx="1962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出荷済み表示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3C272B3-4ABC-40A9-ADE6-EA44D7ACE021}"/>
              </a:ext>
            </a:extLst>
          </p:cNvPr>
          <p:cNvSpPr txBox="1"/>
          <p:nvPr/>
        </p:nvSpPr>
        <p:spPr>
          <a:xfrm>
            <a:off x="7612080" y="2414996"/>
            <a:ext cx="229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進捗状況カラー表示</a:t>
            </a:r>
          </a:p>
        </p:txBody>
      </p:sp>
    </p:spTree>
    <p:extLst>
      <p:ext uri="{BB962C8B-B14F-4D97-AF65-F5344CB8AC3E}">
        <p14:creationId xmlns:p14="http://schemas.microsoft.com/office/powerpoint/2010/main" val="26655078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インテグラル">
  <a:themeElements>
    <a:clrScheme name="インテグラル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インテグラル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インテグラル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2361</TotalTime>
  <Words>655</Words>
  <Application>Microsoft Office PowerPoint</Application>
  <PresentationFormat>ワイド画面</PresentationFormat>
  <Paragraphs>189</Paragraphs>
  <Slides>16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1" baseType="lpstr">
      <vt:lpstr>メイリオ</vt:lpstr>
      <vt:lpstr>Tw Cen MT</vt:lpstr>
      <vt:lpstr>Tw Cen MT Condensed</vt:lpstr>
      <vt:lpstr>Wingdings 3</vt:lpstr>
      <vt:lpstr>インテグラル</vt:lpstr>
      <vt:lpstr>生産管理システムイメージ</vt:lpstr>
      <vt:lpstr>システムの流れ</vt:lpstr>
      <vt:lpstr>データ連動</vt:lpstr>
      <vt:lpstr>データ連動</vt:lpstr>
      <vt:lpstr>工程計画書作成</vt:lpstr>
      <vt:lpstr>工程計画書作成</vt:lpstr>
      <vt:lpstr>工程計画書作成</vt:lpstr>
      <vt:lpstr>工程計画書作成</vt:lpstr>
      <vt:lpstr>工程計画書作成</vt:lpstr>
      <vt:lpstr>実績データ入力</vt:lpstr>
      <vt:lpstr>実績データ入力</vt:lpstr>
      <vt:lpstr>実績データ入力</vt:lpstr>
      <vt:lpstr>各種帳票出力</vt:lpstr>
      <vt:lpstr>各種帳票出力</vt:lpstr>
      <vt:lpstr>各種帳票出力</vt:lpstr>
      <vt:lpstr>各種帳票出力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生産管理システム概要</dc:title>
  <dc:creator>永井 PC2</dc:creator>
  <cp:lastModifiedBy>永井 PC2</cp:lastModifiedBy>
  <cp:revision>79</cp:revision>
  <dcterms:created xsi:type="dcterms:W3CDTF">2020-04-06T04:02:17Z</dcterms:created>
  <dcterms:modified xsi:type="dcterms:W3CDTF">2020-04-10T09:14:36Z</dcterms:modified>
</cp:coreProperties>
</file>